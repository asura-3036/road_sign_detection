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Petrona"/>
      <p:regular r:id="rId15"/>
    </p:embeddedFont>
    <p:embeddedFont>
      <p:font typeface="Petrona"/>
      <p:regular r:id="rId16"/>
    </p:embeddedFont>
    <p:embeddedFont>
      <p:font typeface="Petrona"/>
      <p:regular r:id="rId17"/>
    </p:embeddedFont>
    <p:embeddedFont>
      <p:font typeface="Petrona"/>
      <p:regular r:id="rId18"/>
    </p:embeddedFont>
    <p:embeddedFont>
      <p:font typeface="Inter"/>
      <p:regular r:id="rId19"/>
    </p:embeddedFont>
    <p:embeddedFont>
      <p:font typeface="Inter"/>
      <p:regular r:id="rId20"/>
    </p:embeddedFont>
    <p:embeddedFont>
      <p:font typeface="Inter"/>
      <p:regular r:id="rId21"/>
    </p:embeddedFont>
    <p:embeddedFont>
      <p:font typeface="Inter"/>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sv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svg"/><Relationship Id="rId14" Type="http://schemas.openxmlformats.org/officeDocument/2006/relationships/slideLayout" Target="../slideLayouts/slideLayout3.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5.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7.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image" Target="../media/image-7-8.png"/><Relationship Id="rId9" Type="http://schemas.openxmlformats.org/officeDocument/2006/relationships/image" Target="../media/image-7-9.svg"/><Relationship Id="rId10" Type="http://schemas.openxmlformats.org/officeDocument/2006/relationships/slideLayout" Target="../slideLayouts/slideLayout8.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921073"/>
            <a:ext cx="7556421" cy="2232779"/>
          </a:xfrm>
          <a:prstGeom prst="rect">
            <a:avLst/>
          </a:prstGeom>
          <a:noFill/>
          <a:ln/>
        </p:spPr>
        <p:txBody>
          <a:bodyPr wrap="square" lIns="0" tIns="0" rIns="0" bIns="0" rtlCol="0" anchor="t"/>
          <a:lstStyle/>
          <a:p>
            <a:pPr algn="l" indent="0" marL="0">
              <a:lnSpc>
                <a:spcPts val="5850"/>
              </a:lnSpc>
              <a:buNone/>
            </a:pPr>
            <a:r>
              <a:rPr lang="en-US" sz="4650" b="1" dirty="0">
                <a:solidFill>
                  <a:srgbClr val="FF8AAF"/>
                </a:solidFill>
                <a:latin typeface="Petrona Bold" pitchFamily="34" charset="0"/>
                <a:ea typeface="Petrona Bold" pitchFamily="34" charset="-122"/>
                <a:cs typeface="Petrona Bold" pitchFamily="34" charset="-120"/>
              </a:rPr>
              <a:t>German Traffic Sign Recognition: A CNN Approach</a:t>
            </a:r>
            <a:endParaRPr lang="en-US" sz="4650" dirty="0"/>
          </a:p>
        </p:txBody>
      </p:sp>
      <p:sp>
        <p:nvSpPr>
          <p:cNvPr id="4" name="Text 1"/>
          <p:cNvSpPr/>
          <p:nvPr/>
        </p:nvSpPr>
        <p:spPr>
          <a:xfrm>
            <a:off x="6280190" y="4494014"/>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Inter" pitchFamily="34" charset="0"/>
                <a:ea typeface="Inter" pitchFamily="34" charset="-122"/>
                <a:cs typeface="Inter" pitchFamily="34" charset="-120"/>
              </a:rPr>
              <a:t>Developed a deep convolutional neural network (CNN) for German Traffic Sign Recognition (GTSRB dataset) using Keras and TensorFlow. This model recognizes 43 traffic sign classes from over 50,000 labeled images, focusing on reliable image classification for autonomous vehicles.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1794510" y="2000250"/>
            <a:ext cx="1897380" cy="4229100"/>
          </a:xfrm>
          <a:prstGeom prst="rect">
            <a:avLst/>
          </a:prstGeom>
        </p:spPr>
      </p:pic>
      <p:sp>
        <p:nvSpPr>
          <p:cNvPr id="3" name="Text 0"/>
          <p:cNvSpPr/>
          <p:nvPr/>
        </p:nvSpPr>
        <p:spPr>
          <a:xfrm>
            <a:off x="6277332" y="622816"/>
            <a:ext cx="5449848" cy="481965"/>
          </a:xfrm>
          <a:prstGeom prst="rect">
            <a:avLst/>
          </a:prstGeom>
          <a:noFill/>
          <a:ln/>
        </p:spPr>
        <p:txBody>
          <a:bodyPr wrap="none" lIns="0" tIns="0" rIns="0" bIns="0" rtlCol="0" anchor="t"/>
          <a:lstStyle/>
          <a:p>
            <a:pPr algn="l" indent="0" marL="0">
              <a:lnSpc>
                <a:spcPts val="3750"/>
              </a:lnSpc>
              <a:buNone/>
            </a:pPr>
            <a:r>
              <a:rPr lang="en-US" sz="3000" b="1" dirty="0">
                <a:solidFill>
                  <a:srgbClr val="FF8AAF"/>
                </a:solidFill>
                <a:latin typeface="Petrona Bold" pitchFamily="34" charset="0"/>
                <a:ea typeface="Petrona Bold" pitchFamily="34" charset="-122"/>
                <a:cs typeface="Petrona Bold" pitchFamily="34" charset="-120"/>
              </a:rPr>
              <a:t>Model Architecture &amp; Training</a:t>
            </a:r>
            <a:endParaRPr lang="en-US" sz="3000" dirty="0"/>
          </a:p>
        </p:txBody>
      </p:sp>
      <p:sp>
        <p:nvSpPr>
          <p:cNvPr id="4" name="Shape 1"/>
          <p:cNvSpPr/>
          <p:nvPr/>
        </p:nvSpPr>
        <p:spPr>
          <a:xfrm>
            <a:off x="6277332" y="1325047"/>
            <a:ext cx="7562136" cy="1460302"/>
          </a:xfrm>
          <a:prstGeom prst="roundRect">
            <a:avLst>
              <a:gd name="adj" fmla="val 4225"/>
            </a:avLst>
          </a:prstGeom>
          <a:solidFill>
            <a:srgbClr val="2F1D63"/>
          </a:solidFill>
          <a:ln w="7620">
            <a:solidFill>
              <a:srgbClr val="48367C"/>
            </a:solidFill>
            <a:prstDash val="solid"/>
          </a:ln>
        </p:spPr>
      </p:sp>
      <p:pic>
        <p:nvPicPr>
          <p:cNvPr id="5" name="Image 1" descr="preencoded.png"/>
          <p:cNvPicPr>
            <a:picLocks noChangeAspect="1"/>
          </p:cNvPicPr>
          <p:nvPr/>
        </p:nvPicPr>
        <p:blipFill>
          <a:blip r:embed="rId2"/>
          <a:stretch>
            <a:fillRect/>
          </a:stretch>
        </p:blipFill>
        <p:spPr>
          <a:xfrm>
            <a:off x="6431756" y="1479471"/>
            <a:ext cx="440650" cy="440650"/>
          </a:xfrm>
          <a:prstGeom prst="rect">
            <a:avLst/>
          </a:prstGeom>
        </p:spPr>
      </p:pic>
      <p:pic>
        <p:nvPicPr>
          <p:cNvPr id="6"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52962" y="1600676"/>
            <a:ext cx="198239" cy="198239"/>
          </a:xfrm>
          <a:prstGeom prst="rect">
            <a:avLst/>
          </a:prstGeom>
        </p:spPr>
      </p:pic>
      <p:sp>
        <p:nvSpPr>
          <p:cNvPr id="7" name="Text 2"/>
          <p:cNvSpPr/>
          <p:nvPr/>
        </p:nvSpPr>
        <p:spPr>
          <a:xfrm>
            <a:off x="6431756" y="2066925"/>
            <a:ext cx="1927979" cy="240863"/>
          </a:xfrm>
          <a:prstGeom prst="rect">
            <a:avLst/>
          </a:prstGeom>
          <a:noFill/>
          <a:ln/>
        </p:spPr>
        <p:txBody>
          <a:bodyPr wrap="none" lIns="0" tIns="0" rIns="0" bIns="0" rtlCol="0" anchor="t"/>
          <a:lstStyle/>
          <a:p>
            <a:pPr algn="l" indent="0" marL="0">
              <a:lnSpc>
                <a:spcPts val="1850"/>
              </a:lnSpc>
              <a:buNone/>
            </a:pPr>
            <a:r>
              <a:rPr lang="en-US" sz="1500" b="1" dirty="0">
                <a:solidFill>
                  <a:srgbClr val="E0D6DE"/>
                </a:solidFill>
                <a:latin typeface="Petrona Bold" pitchFamily="34" charset="0"/>
                <a:ea typeface="Petrona Bold" pitchFamily="34" charset="-122"/>
                <a:cs typeface="Petrona Bold" pitchFamily="34" charset="-120"/>
              </a:rPr>
              <a:t>Architecture</a:t>
            </a:r>
            <a:endParaRPr lang="en-US" sz="1500" dirty="0"/>
          </a:p>
        </p:txBody>
      </p:sp>
      <p:sp>
        <p:nvSpPr>
          <p:cNvPr id="8" name="Text 3"/>
          <p:cNvSpPr/>
          <p:nvPr/>
        </p:nvSpPr>
        <p:spPr>
          <a:xfrm>
            <a:off x="6431756" y="2395895"/>
            <a:ext cx="7253287" cy="235029"/>
          </a:xfrm>
          <a:prstGeom prst="rect">
            <a:avLst/>
          </a:prstGeom>
          <a:noFill/>
          <a:ln/>
        </p:spPr>
        <p:txBody>
          <a:bodyPr wrap="none" lIns="0" tIns="0" rIns="0" bIns="0" rtlCol="0" anchor="t"/>
          <a:lstStyle/>
          <a:p>
            <a:pPr algn="l" indent="0" marL="0">
              <a:lnSpc>
                <a:spcPts val="1850"/>
              </a:lnSpc>
              <a:buNone/>
            </a:pPr>
            <a:r>
              <a:rPr lang="en-US" sz="1150" dirty="0">
                <a:solidFill>
                  <a:srgbClr val="E0D6DE"/>
                </a:solidFill>
                <a:latin typeface="Inter" pitchFamily="34" charset="0"/>
                <a:ea typeface="Inter" pitchFamily="34" charset="-122"/>
                <a:cs typeface="Inter" pitchFamily="34" charset="-120"/>
              </a:rPr>
              <a:t>Five convolutional blocks with batch normalization, max pooling, and dropout for regularization.</a:t>
            </a:r>
            <a:endParaRPr lang="en-US" sz="1150" dirty="0"/>
          </a:p>
        </p:txBody>
      </p:sp>
      <p:sp>
        <p:nvSpPr>
          <p:cNvPr id="9" name="Shape 4"/>
          <p:cNvSpPr/>
          <p:nvPr/>
        </p:nvSpPr>
        <p:spPr>
          <a:xfrm>
            <a:off x="6277332" y="2932152"/>
            <a:ext cx="7562136" cy="1460302"/>
          </a:xfrm>
          <a:prstGeom prst="roundRect">
            <a:avLst>
              <a:gd name="adj" fmla="val 4225"/>
            </a:avLst>
          </a:prstGeom>
          <a:solidFill>
            <a:srgbClr val="2F1D63"/>
          </a:solidFill>
          <a:ln w="7620">
            <a:solidFill>
              <a:srgbClr val="48367C"/>
            </a:solidFill>
            <a:prstDash val="solid"/>
          </a:ln>
        </p:spPr>
      </p:sp>
      <p:pic>
        <p:nvPicPr>
          <p:cNvPr id="10" name="Image 3" descr="preencoded.png"/>
          <p:cNvPicPr>
            <a:picLocks noChangeAspect="1"/>
          </p:cNvPicPr>
          <p:nvPr/>
        </p:nvPicPr>
        <p:blipFill>
          <a:blip r:embed="rId5"/>
          <a:stretch>
            <a:fillRect/>
          </a:stretch>
        </p:blipFill>
        <p:spPr>
          <a:xfrm>
            <a:off x="6431756" y="3086576"/>
            <a:ext cx="440650" cy="440650"/>
          </a:xfrm>
          <a:prstGeom prst="rect">
            <a:avLst/>
          </a:prstGeom>
        </p:spPr>
      </p:pic>
      <p:pic>
        <p:nvPicPr>
          <p:cNvPr id="11" name="Image 4"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52962" y="3207782"/>
            <a:ext cx="198239" cy="198239"/>
          </a:xfrm>
          <a:prstGeom prst="rect">
            <a:avLst/>
          </a:prstGeom>
        </p:spPr>
      </p:pic>
      <p:sp>
        <p:nvSpPr>
          <p:cNvPr id="12" name="Text 5"/>
          <p:cNvSpPr/>
          <p:nvPr/>
        </p:nvSpPr>
        <p:spPr>
          <a:xfrm>
            <a:off x="6431756" y="3674031"/>
            <a:ext cx="1927979" cy="240863"/>
          </a:xfrm>
          <a:prstGeom prst="rect">
            <a:avLst/>
          </a:prstGeom>
          <a:noFill/>
          <a:ln/>
        </p:spPr>
        <p:txBody>
          <a:bodyPr wrap="none" lIns="0" tIns="0" rIns="0" bIns="0" rtlCol="0" anchor="t"/>
          <a:lstStyle/>
          <a:p>
            <a:pPr algn="l" indent="0" marL="0">
              <a:lnSpc>
                <a:spcPts val="1850"/>
              </a:lnSpc>
              <a:buNone/>
            </a:pPr>
            <a:r>
              <a:rPr lang="en-US" sz="1500" b="1" dirty="0">
                <a:solidFill>
                  <a:srgbClr val="E0D6DE"/>
                </a:solidFill>
                <a:latin typeface="Petrona Bold" pitchFamily="34" charset="0"/>
                <a:ea typeface="Petrona Bold" pitchFamily="34" charset="-122"/>
                <a:cs typeface="Petrona Bold" pitchFamily="34" charset="-120"/>
              </a:rPr>
              <a:t>Model Size</a:t>
            </a:r>
            <a:endParaRPr lang="en-US" sz="1500" dirty="0"/>
          </a:p>
        </p:txBody>
      </p:sp>
      <p:sp>
        <p:nvSpPr>
          <p:cNvPr id="13" name="Text 6"/>
          <p:cNvSpPr/>
          <p:nvPr/>
        </p:nvSpPr>
        <p:spPr>
          <a:xfrm>
            <a:off x="6431756" y="4003000"/>
            <a:ext cx="7253287" cy="235029"/>
          </a:xfrm>
          <a:prstGeom prst="rect">
            <a:avLst/>
          </a:prstGeom>
          <a:noFill/>
          <a:ln/>
        </p:spPr>
        <p:txBody>
          <a:bodyPr wrap="none" lIns="0" tIns="0" rIns="0" bIns="0" rtlCol="0" anchor="t"/>
          <a:lstStyle/>
          <a:p>
            <a:pPr algn="l" indent="0" marL="0">
              <a:lnSpc>
                <a:spcPts val="1850"/>
              </a:lnSpc>
              <a:buNone/>
            </a:pPr>
            <a:r>
              <a:rPr lang="en-US" sz="1150" dirty="0">
                <a:solidFill>
                  <a:srgbClr val="E0D6DE"/>
                </a:solidFill>
                <a:latin typeface="Inter" pitchFamily="34" charset="0"/>
                <a:ea typeface="Inter" pitchFamily="34" charset="-122"/>
                <a:cs typeface="Inter" pitchFamily="34" charset="-120"/>
              </a:rPr>
              <a:t>3.85 million parameters, approximately 14.7 MB storage.</a:t>
            </a:r>
            <a:endParaRPr lang="en-US" sz="1150" dirty="0"/>
          </a:p>
        </p:txBody>
      </p:sp>
      <p:sp>
        <p:nvSpPr>
          <p:cNvPr id="14" name="Shape 7"/>
          <p:cNvSpPr/>
          <p:nvPr/>
        </p:nvSpPr>
        <p:spPr>
          <a:xfrm>
            <a:off x="6277332" y="4539258"/>
            <a:ext cx="7562136" cy="1460302"/>
          </a:xfrm>
          <a:prstGeom prst="roundRect">
            <a:avLst>
              <a:gd name="adj" fmla="val 4225"/>
            </a:avLst>
          </a:prstGeom>
          <a:solidFill>
            <a:srgbClr val="2F1D63"/>
          </a:solidFill>
          <a:ln w="7620">
            <a:solidFill>
              <a:srgbClr val="48367C"/>
            </a:solidFill>
            <a:prstDash val="solid"/>
          </a:ln>
        </p:spPr>
      </p:sp>
      <p:pic>
        <p:nvPicPr>
          <p:cNvPr id="15" name="Image 5" descr="preencoded.png"/>
          <p:cNvPicPr>
            <a:picLocks noChangeAspect="1"/>
          </p:cNvPicPr>
          <p:nvPr/>
        </p:nvPicPr>
        <p:blipFill>
          <a:blip r:embed="rId8"/>
          <a:stretch>
            <a:fillRect/>
          </a:stretch>
        </p:blipFill>
        <p:spPr>
          <a:xfrm>
            <a:off x="6431756" y="4693682"/>
            <a:ext cx="440650" cy="440650"/>
          </a:xfrm>
          <a:prstGeom prst="rect">
            <a:avLst/>
          </a:prstGeom>
        </p:spPr>
      </p:pic>
      <p:pic>
        <p:nvPicPr>
          <p:cNvPr id="16" name="Image 6"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552962" y="4814888"/>
            <a:ext cx="198239" cy="198239"/>
          </a:xfrm>
          <a:prstGeom prst="rect">
            <a:avLst/>
          </a:prstGeom>
        </p:spPr>
      </p:pic>
      <p:sp>
        <p:nvSpPr>
          <p:cNvPr id="17" name="Text 8"/>
          <p:cNvSpPr/>
          <p:nvPr/>
        </p:nvSpPr>
        <p:spPr>
          <a:xfrm>
            <a:off x="6431756" y="5281136"/>
            <a:ext cx="1927979" cy="240863"/>
          </a:xfrm>
          <a:prstGeom prst="rect">
            <a:avLst/>
          </a:prstGeom>
          <a:noFill/>
          <a:ln/>
        </p:spPr>
        <p:txBody>
          <a:bodyPr wrap="none" lIns="0" tIns="0" rIns="0" bIns="0" rtlCol="0" anchor="t"/>
          <a:lstStyle/>
          <a:p>
            <a:pPr algn="l" indent="0" marL="0">
              <a:lnSpc>
                <a:spcPts val="1850"/>
              </a:lnSpc>
              <a:buNone/>
            </a:pPr>
            <a:r>
              <a:rPr lang="en-US" sz="1500" b="1" dirty="0">
                <a:solidFill>
                  <a:srgbClr val="E0D6DE"/>
                </a:solidFill>
                <a:latin typeface="Petrona Bold" pitchFamily="34" charset="0"/>
                <a:ea typeface="Petrona Bold" pitchFamily="34" charset="-122"/>
                <a:cs typeface="Petrona Bold" pitchFamily="34" charset="-120"/>
              </a:rPr>
              <a:t>Accuracy</a:t>
            </a:r>
            <a:endParaRPr lang="en-US" sz="1500" dirty="0"/>
          </a:p>
        </p:txBody>
      </p:sp>
      <p:sp>
        <p:nvSpPr>
          <p:cNvPr id="18" name="Text 9"/>
          <p:cNvSpPr/>
          <p:nvPr/>
        </p:nvSpPr>
        <p:spPr>
          <a:xfrm>
            <a:off x="6431756" y="5610106"/>
            <a:ext cx="7253287" cy="235029"/>
          </a:xfrm>
          <a:prstGeom prst="rect">
            <a:avLst/>
          </a:prstGeom>
          <a:noFill/>
          <a:ln/>
        </p:spPr>
        <p:txBody>
          <a:bodyPr wrap="none" lIns="0" tIns="0" rIns="0" bIns="0" rtlCol="0" anchor="t"/>
          <a:lstStyle/>
          <a:p>
            <a:pPr algn="l" indent="0" marL="0">
              <a:lnSpc>
                <a:spcPts val="1850"/>
              </a:lnSpc>
              <a:buNone/>
            </a:pPr>
            <a:r>
              <a:rPr lang="en-US" sz="1150" dirty="0">
                <a:solidFill>
                  <a:srgbClr val="E0D6DE"/>
                </a:solidFill>
                <a:latin typeface="Inter" pitchFamily="34" charset="0"/>
                <a:ea typeface="Inter" pitchFamily="34" charset="-122"/>
                <a:cs typeface="Inter" pitchFamily="34" charset="-120"/>
              </a:rPr>
              <a:t>Training: 98.6%; Validation: 96.2% over 25 epochs.</a:t>
            </a:r>
            <a:endParaRPr lang="en-US" sz="1150" dirty="0"/>
          </a:p>
        </p:txBody>
      </p:sp>
      <p:sp>
        <p:nvSpPr>
          <p:cNvPr id="19" name="Shape 10"/>
          <p:cNvSpPr/>
          <p:nvPr/>
        </p:nvSpPr>
        <p:spPr>
          <a:xfrm>
            <a:off x="6277332" y="6146363"/>
            <a:ext cx="7562136" cy="1460302"/>
          </a:xfrm>
          <a:prstGeom prst="roundRect">
            <a:avLst>
              <a:gd name="adj" fmla="val 4225"/>
            </a:avLst>
          </a:prstGeom>
          <a:solidFill>
            <a:srgbClr val="2F1D63"/>
          </a:solidFill>
          <a:ln w="7620">
            <a:solidFill>
              <a:srgbClr val="48367C"/>
            </a:solidFill>
            <a:prstDash val="solid"/>
          </a:ln>
        </p:spPr>
      </p:sp>
      <p:pic>
        <p:nvPicPr>
          <p:cNvPr id="20" name="Image 7" descr="preencoded.png"/>
          <p:cNvPicPr>
            <a:picLocks noChangeAspect="1"/>
          </p:cNvPicPr>
          <p:nvPr/>
        </p:nvPicPr>
        <p:blipFill>
          <a:blip r:embed="rId11"/>
          <a:stretch>
            <a:fillRect/>
          </a:stretch>
        </p:blipFill>
        <p:spPr>
          <a:xfrm>
            <a:off x="6431756" y="6300788"/>
            <a:ext cx="440650" cy="440650"/>
          </a:xfrm>
          <a:prstGeom prst="rect">
            <a:avLst/>
          </a:prstGeom>
        </p:spPr>
      </p:pic>
      <p:pic>
        <p:nvPicPr>
          <p:cNvPr id="21" name="Image 8"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552962" y="6421993"/>
            <a:ext cx="198239" cy="198239"/>
          </a:xfrm>
          <a:prstGeom prst="rect">
            <a:avLst/>
          </a:prstGeom>
        </p:spPr>
      </p:pic>
      <p:sp>
        <p:nvSpPr>
          <p:cNvPr id="22" name="Text 11"/>
          <p:cNvSpPr/>
          <p:nvPr/>
        </p:nvSpPr>
        <p:spPr>
          <a:xfrm>
            <a:off x="6431756" y="6888242"/>
            <a:ext cx="1927979" cy="240863"/>
          </a:xfrm>
          <a:prstGeom prst="rect">
            <a:avLst/>
          </a:prstGeom>
          <a:noFill/>
          <a:ln/>
        </p:spPr>
        <p:txBody>
          <a:bodyPr wrap="none" lIns="0" tIns="0" rIns="0" bIns="0" rtlCol="0" anchor="t"/>
          <a:lstStyle/>
          <a:p>
            <a:pPr algn="l" indent="0" marL="0">
              <a:lnSpc>
                <a:spcPts val="1850"/>
              </a:lnSpc>
              <a:buNone/>
            </a:pPr>
            <a:r>
              <a:rPr lang="en-US" sz="1500" b="1" dirty="0">
                <a:solidFill>
                  <a:srgbClr val="E0D6DE"/>
                </a:solidFill>
                <a:latin typeface="Petrona Bold" pitchFamily="34" charset="0"/>
                <a:ea typeface="Petrona Bold" pitchFamily="34" charset="-122"/>
                <a:cs typeface="Petrona Bold" pitchFamily="34" charset="-120"/>
              </a:rPr>
              <a:t>Data Preprocessing</a:t>
            </a:r>
            <a:endParaRPr lang="en-US" sz="1500" dirty="0"/>
          </a:p>
        </p:txBody>
      </p:sp>
      <p:sp>
        <p:nvSpPr>
          <p:cNvPr id="23" name="Text 12"/>
          <p:cNvSpPr/>
          <p:nvPr/>
        </p:nvSpPr>
        <p:spPr>
          <a:xfrm>
            <a:off x="6431756" y="7217212"/>
            <a:ext cx="7253287" cy="235029"/>
          </a:xfrm>
          <a:prstGeom prst="rect">
            <a:avLst/>
          </a:prstGeom>
          <a:noFill/>
          <a:ln/>
        </p:spPr>
        <p:txBody>
          <a:bodyPr wrap="none" lIns="0" tIns="0" rIns="0" bIns="0" rtlCol="0" anchor="t"/>
          <a:lstStyle/>
          <a:p>
            <a:pPr algn="l" indent="0" marL="0">
              <a:lnSpc>
                <a:spcPts val="1850"/>
              </a:lnSpc>
              <a:buNone/>
            </a:pPr>
            <a:r>
              <a:rPr lang="en-US" sz="1150" dirty="0">
                <a:solidFill>
                  <a:srgbClr val="E0D6DE"/>
                </a:solidFill>
                <a:latin typeface="Inter" pitchFamily="34" charset="0"/>
                <a:ea typeface="Inter" pitchFamily="34" charset="-122"/>
                <a:cs typeface="Inter" pitchFamily="34" charset="-120"/>
              </a:rPr>
              <a:t>Normalization and augmentation (rotation, zoom, shift, shear) for improved generalization.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222296"/>
            <a:ext cx="6766322" cy="744260"/>
          </a:xfrm>
          <a:prstGeom prst="rect">
            <a:avLst/>
          </a:prstGeom>
          <a:noFill/>
          <a:ln/>
        </p:spPr>
        <p:txBody>
          <a:bodyPr wrap="none" lIns="0" tIns="0" rIns="0" bIns="0" rtlCol="0" anchor="t"/>
          <a:lstStyle/>
          <a:p>
            <a:pPr algn="l" indent="0" marL="0">
              <a:lnSpc>
                <a:spcPts val="5850"/>
              </a:lnSpc>
              <a:buNone/>
            </a:pPr>
            <a:r>
              <a:rPr lang="en-US" sz="4650" b="1" dirty="0">
                <a:solidFill>
                  <a:srgbClr val="FF8AAF"/>
                </a:solidFill>
                <a:latin typeface="Petrona Bold" pitchFamily="34" charset="0"/>
                <a:ea typeface="Petrona Bold" pitchFamily="34" charset="-122"/>
                <a:cs typeface="Petrona Bold" pitchFamily="34" charset="-120"/>
              </a:rPr>
              <a:t>Key Results &amp; Evaluation</a:t>
            </a:r>
            <a:endParaRPr lang="en-US" sz="4650" dirty="0"/>
          </a:p>
        </p:txBody>
      </p:sp>
      <p:sp>
        <p:nvSpPr>
          <p:cNvPr id="3" name="Text 1"/>
          <p:cNvSpPr/>
          <p:nvPr/>
        </p:nvSpPr>
        <p:spPr>
          <a:xfrm>
            <a:off x="793790" y="2510790"/>
            <a:ext cx="6244709" cy="1088708"/>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Inter" pitchFamily="34" charset="0"/>
                <a:ea typeface="Inter" pitchFamily="34" charset="-122"/>
                <a:cs typeface="Inter" pitchFamily="34" charset="-120"/>
              </a:rPr>
              <a:t>Per-class accuracy varied, with some classes (e.g., speed limits) performing excellently, while others were challenging due to visual similarity or class imbalance.</a:t>
            </a:r>
            <a:endParaRPr lang="en-US" sz="1750" dirty="0"/>
          </a:p>
        </p:txBody>
      </p:sp>
      <p:sp>
        <p:nvSpPr>
          <p:cNvPr id="4" name="Text 2"/>
          <p:cNvSpPr/>
          <p:nvPr/>
        </p:nvSpPr>
        <p:spPr>
          <a:xfrm>
            <a:off x="793790" y="3803571"/>
            <a:ext cx="6244709" cy="1088708"/>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Inter" pitchFamily="34" charset="0"/>
                <a:ea typeface="Inter" pitchFamily="34" charset="-122"/>
                <a:cs typeface="Inter" pitchFamily="34" charset="-120"/>
              </a:rPr>
              <a:t>Confusion matrix showed strong diagonal dominance, but noticeable confusion within visually similar traffic sign groups.</a:t>
            </a:r>
            <a:endParaRPr lang="en-US" sz="1750" dirty="0"/>
          </a:p>
        </p:txBody>
      </p:sp>
      <p:sp>
        <p:nvSpPr>
          <p:cNvPr id="5" name="Text 3"/>
          <p:cNvSpPr/>
          <p:nvPr/>
        </p:nvSpPr>
        <p:spPr>
          <a:xfrm>
            <a:off x="793790" y="5096351"/>
            <a:ext cx="6244709" cy="1088708"/>
          </a:xfrm>
          <a:prstGeom prst="rect">
            <a:avLst/>
          </a:prstGeom>
          <a:noFill/>
          <a:ln/>
        </p:spPr>
        <p:txBody>
          <a:bodyPr wrap="square" lIns="0" tIns="0" rIns="0" bIns="0" rtlCol="0" anchor="t"/>
          <a:lstStyle/>
          <a:p>
            <a:pPr algn="l" indent="0" marL="0">
              <a:lnSpc>
                <a:spcPts val="2850"/>
              </a:lnSpc>
              <a:buNone/>
            </a:pPr>
            <a:r>
              <a:rPr lang="en-US" sz="1750" dirty="0">
                <a:solidFill>
                  <a:srgbClr val="D783D8"/>
                </a:solidFill>
                <a:latin typeface="Inter" pitchFamily="34" charset="0"/>
                <a:ea typeface="Inter" pitchFamily="34" charset="-122"/>
                <a:cs typeface="Inter" pitchFamily="34" charset="-120"/>
              </a:rPr>
              <a:t>Test set accuracy was significantly lower than validation (5.08% vs. 96.17%), indicating a potential issue requiring urgent investigation.</a:t>
            </a:r>
            <a:endParaRPr lang="en-US" sz="1750" dirty="0"/>
          </a:p>
        </p:txBody>
      </p:sp>
      <p:pic>
        <p:nvPicPr>
          <p:cNvPr id="6" name="Image 0" descr="preencoded.png"/>
          <p:cNvPicPr>
            <a:picLocks noChangeAspect="1"/>
          </p:cNvPicPr>
          <p:nvPr/>
        </p:nvPicPr>
        <p:blipFill>
          <a:blip r:embed="rId1"/>
          <a:stretch>
            <a:fillRect/>
          </a:stretch>
        </p:blipFill>
        <p:spPr>
          <a:xfrm>
            <a:off x="7599521" y="2561868"/>
            <a:ext cx="6244709" cy="2967633"/>
          </a:xfrm>
          <a:prstGeom prst="rect">
            <a:avLst/>
          </a:prstGeom>
        </p:spPr>
      </p:pic>
      <p:sp>
        <p:nvSpPr>
          <p:cNvPr id="7" name="Text 4"/>
          <p:cNvSpPr/>
          <p:nvPr/>
        </p:nvSpPr>
        <p:spPr>
          <a:xfrm>
            <a:off x="793790" y="6644283"/>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E0D6DE"/>
                </a:solidFill>
                <a:latin typeface="Inter" pitchFamily="34" charset="0"/>
                <a:ea typeface="Inter" pitchFamily="34" charset="-122"/>
                <a:cs typeface="Inter" pitchFamily="34" charset="-120"/>
              </a:rPr>
              <a:t>Macro-averaged precision/recall/F1 of ~0.90 indicates generally robust performance, except for outlier classes.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C0524">
              <a:alpha val="80000"/>
            </a:srgbClr>
          </a:solidFill>
          <a:ln/>
        </p:spPr>
      </p:sp>
      <p:sp>
        <p:nvSpPr>
          <p:cNvPr id="4" name="Text 1"/>
          <p:cNvSpPr/>
          <p:nvPr/>
        </p:nvSpPr>
        <p:spPr>
          <a:xfrm>
            <a:off x="793790" y="2516862"/>
            <a:ext cx="7527727" cy="744260"/>
          </a:xfrm>
          <a:prstGeom prst="rect">
            <a:avLst/>
          </a:prstGeom>
          <a:noFill/>
          <a:ln/>
        </p:spPr>
        <p:txBody>
          <a:bodyPr wrap="none" lIns="0" tIns="0" rIns="0" bIns="0" rtlCol="0" anchor="t"/>
          <a:lstStyle/>
          <a:p>
            <a:pPr algn="l" indent="0" marL="0">
              <a:lnSpc>
                <a:spcPts val="5850"/>
              </a:lnSpc>
              <a:buNone/>
            </a:pPr>
            <a:r>
              <a:rPr lang="en-US" sz="4650" b="1" dirty="0">
                <a:solidFill>
                  <a:srgbClr val="FF8AAF"/>
                </a:solidFill>
                <a:latin typeface="Petrona Bold" pitchFamily="34" charset="0"/>
                <a:ea typeface="Petrona Bold" pitchFamily="34" charset="-122"/>
                <a:cs typeface="Petrona Bold" pitchFamily="34" charset="-120"/>
              </a:rPr>
              <a:t>Technical Implementations</a:t>
            </a:r>
            <a:endParaRPr lang="en-US" sz="4650" dirty="0"/>
          </a:p>
        </p:txBody>
      </p:sp>
      <p:sp>
        <p:nvSpPr>
          <p:cNvPr id="5" name="Shape 2"/>
          <p:cNvSpPr/>
          <p:nvPr/>
        </p:nvSpPr>
        <p:spPr>
          <a:xfrm>
            <a:off x="793790" y="3601283"/>
            <a:ext cx="6407944" cy="2111454"/>
          </a:xfrm>
          <a:prstGeom prst="roundRect">
            <a:avLst>
              <a:gd name="adj" fmla="val 6929"/>
            </a:avLst>
          </a:prstGeom>
          <a:solidFill>
            <a:srgbClr val="0C0524">
              <a:alpha val="95000"/>
            </a:srgbClr>
          </a:solidFill>
          <a:ln w="30480">
            <a:solidFill>
              <a:srgbClr val="48367C"/>
            </a:solidFill>
            <a:prstDash val="solid"/>
          </a:ln>
        </p:spPr>
      </p:sp>
      <p:pic>
        <p:nvPicPr>
          <p:cNvPr id="6" name="Image 1" descr="preencoded.png"/>
          <p:cNvPicPr>
            <a:picLocks noChangeAspect="1"/>
          </p:cNvPicPr>
          <p:nvPr/>
        </p:nvPicPr>
        <p:blipFill>
          <a:blip r:embed="rId2"/>
          <a:stretch>
            <a:fillRect/>
          </a:stretch>
        </p:blipFill>
        <p:spPr>
          <a:xfrm>
            <a:off x="763310" y="3601283"/>
            <a:ext cx="121920" cy="2111454"/>
          </a:xfrm>
          <a:prstGeom prst="rect">
            <a:avLst/>
          </a:prstGeom>
        </p:spPr>
      </p:pic>
      <p:sp>
        <p:nvSpPr>
          <p:cNvPr id="7" name="Text 3"/>
          <p:cNvSpPr/>
          <p:nvPr/>
        </p:nvSpPr>
        <p:spPr>
          <a:xfrm>
            <a:off x="1142524" y="3858578"/>
            <a:ext cx="3681770" cy="372070"/>
          </a:xfrm>
          <a:prstGeom prst="rect">
            <a:avLst/>
          </a:prstGeom>
          <a:noFill/>
          <a:ln/>
        </p:spPr>
        <p:txBody>
          <a:bodyPr wrap="none" lIns="0" tIns="0" rIns="0" bIns="0" rtlCol="0" anchor="t"/>
          <a:lstStyle/>
          <a:p>
            <a:pPr algn="l" indent="0" marL="0">
              <a:lnSpc>
                <a:spcPts val="2900"/>
              </a:lnSpc>
              <a:buNone/>
            </a:pPr>
            <a:r>
              <a:rPr lang="en-US" sz="2300" b="1" dirty="0">
                <a:solidFill>
                  <a:srgbClr val="E0D6DE"/>
                </a:solidFill>
                <a:latin typeface="Petrona Bold" pitchFamily="34" charset="0"/>
                <a:ea typeface="Petrona Bold" pitchFamily="34" charset="-122"/>
                <a:cs typeface="Petrona Bold" pitchFamily="34" charset="-120"/>
              </a:rPr>
              <a:t>Development Environment</a:t>
            </a:r>
            <a:endParaRPr lang="en-US" sz="2300" dirty="0"/>
          </a:p>
        </p:txBody>
      </p:sp>
      <p:sp>
        <p:nvSpPr>
          <p:cNvPr id="8" name="Text 4"/>
          <p:cNvSpPr/>
          <p:nvPr/>
        </p:nvSpPr>
        <p:spPr>
          <a:xfrm>
            <a:off x="1142524" y="4366736"/>
            <a:ext cx="5801916" cy="1088708"/>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Inter" pitchFamily="34" charset="0"/>
                <a:ea typeface="Inter" pitchFamily="34" charset="-122"/>
                <a:cs typeface="Inter" pitchFamily="34" charset="-120"/>
              </a:rPr>
              <a:t>Developed in Python 3.11, utilizing NumPy, Pandas, Matplotlib, and Google Colab (GPU) for workflow and acceleration.</a:t>
            </a:r>
            <a:endParaRPr lang="en-US" sz="1750" dirty="0"/>
          </a:p>
        </p:txBody>
      </p:sp>
      <p:sp>
        <p:nvSpPr>
          <p:cNvPr id="9" name="Shape 5"/>
          <p:cNvSpPr/>
          <p:nvPr/>
        </p:nvSpPr>
        <p:spPr>
          <a:xfrm>
            <a:off x="7428548" y="3601283"/>
            <a:ext cx="6408063" cy="2111454"/>
          </a:xfrm>
          <a:prstGeom prst="roundRect">
            <a:avLst>
              <a:gd name="adj" fmla="val 6929"/>
            </a:avLst>
          </a:prstGeom>
          <a:solidFill>
            <a:srgbClr val="0C0524">
              <a:alpha val="95000"/>
            </a:srgbClr>
          </a:solidFill>
          <a:ln w="30480">
            <a:solidFill>
              <a:srgbClr val="48367C"/>
            </a:solidFill>
            <a:prstDash val="solid"/>
          </a:ln>
        </p:spPr>
      </p:sp>
      <p:pic>
        <p:nvPicPr>
          <p:cNvPr id="10" name="Image 2" descr="preencoded.png"/>
          <p:cNvPicPr>
            <a:picLocks noChangeAspect="1"/>
          </p:cNvPicPr>
          <p:nvPr/>
        </p:nvPicPr>
        <p:blipFill>
          <a:blip r:embed="rId3"/>
          <a:stretch>
            <a:fillRect/>
          </a:stretch>
        </p:blipFill>
        <p:spPr>
          <a:xfrm>
            <a:off x="7398067" y="3601283"/>
            <a:ext cx="121920" cy="2111454"/>
          </a:xfrm>
          <a:prstGeom prst="rect">
            <a:avLst/>
          </a:prstGeom>
        </p:spPr>
      </p:pic>
      <p:sp>
        <p:nvSpPr>
          <p:cNvPr id="11" name="Text 6"/>
          <p:cNvSpPr/>
          <p:nvPr/>
        </p:nvSpPr>
        <p:spPr>
          <a:xfrm>
            <a:off x="7777282" y="3858578"/>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E0D6DE"/>
                </a:solidFill>
                <a:latin typeface="Petrona Bold" pitchFamily="34" charset="0"/>
                <a:ea typeface="Petrona Bold" pitchFamily="34" charset="-122"/>
                <a:cs typeface="Petrona Bold" pitchFamily="34" charset="-120"/>
              </a:rPr>
              <a:t>Model Persistence</a:t>
            </a:r>
            <a:endParaRPr lang="en-US" sz="2300" dirty="0"/>
          </a:p>
        </p:txBody>
      </p:sp>
      <p:sp>
        <p:nvSpPr>
          <p:cNvPr id="12" name="Text 7"/>
          <p:cNvSpPr/>
          <p:nvPr/>
        </p:nvSpPr>
        <p:spPr>
          <a:xfrm>
            <a:off x="7777282" y="4366736"/>
            <a:ext cx="5802035" cy="725805"/>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Inter" pitchFamily="34" charset="0"/>
                <a:ea typeface="Inter" pitchFamily="34" charset="-122"/>
                <a:cs typeface="Inter" pitchFamily="34" charset="-120"/>
              </a:rPr>
              <a:t>Model saved in .h5 format, enabling direct inference for deployment.</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211705"/>
            <a:ext cx="7472363" cy="744260"/>
          </a:xfrm>
          <a:prstGeom prst="rect">
            <a:avLst/>
          </a:prstGeom>
          <a:noFill/>
          <a:ln/>
        </p:spPr>
        <p:txBody>
          <a:bodyPr wrap="none" lIns="0" tIns="0" rIns="0" bIns="0" rtlCol="0" anchor="t"/>
          <a:lstStyle/>
          <a:p>
            <a:pPr algn="l" indent="0" marL="0">
              <a:lnSpc>
                <a:spcPts val="5850"/>
              </a:lnSpc>
              <a:buNone/>
            </a:pPr>
            <a:r>
              <a:rPr lang="en-US" sz="4650" b="1" dirty="0">
                <a:solidFill>
                  <a:srgbClr val="FF8AAF"/>
                </a:solidFill>
                <a:latin typeface="Petrona Bold" pitchFamily="34" charset="0"/>
                <a:ea typeface="Petrona Bold" pitchFamily="34" charset="-122"/>
                <a:cs typeface="Petrona Bold" pitchFamily="34" charset="-120"/>
              </a:rPr>
              <a:t>Robustness &amp; Optimization</a:t>
            </a:r>
            <a:endParaRPr lang="en-US" sz="4650" dirty="0"/>
          </a:p>
        </p:txBody>
      </p:sp>
      <p:pic>
        <p:nvPicPr>
          <p:cNvPr id="3" name="Image 0" descr="preencoded.png"/>
          <p:cNvPicPr>
            <a:picLocks noChangeAspect="1"/>
          </p:cNvPicPr>
          <p:nvPr/>
        </p:nvPicPr>
        <p:blipFill>
          <a:blip r:embed="rId1"/>
          <a:stretch>
            <a:fillRect/>
          </a:stretch>
        </p:blipFill>
        <p:spPr>
          <a:xfrm>
            <a:off x="793790" y="3296126"/>
            <a:ext cx="1134070" cy="1360884"/>
          </a:xfrm>
          <a:prstGeom prst="rect">
            <a:avLst/>
          </a:prstGeom>
        </p:spPr>
      </p:pic>
      <p:sp>
        <p:nvSpPr>
          <p:cNvPr id="4" name="Text 1"/>
          <p:cNvSpPr/>
          <p:nvPr/>
        </p:nvSpPr>
        <p:spPr>
          <a:xfrm>
            <a:off x="2154674" y="3522940"/>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E0D6DE"/>
                </a:solidFill>
                <a:latin typeface="Petrona Bold" pitchFamily="34" charset="0"/>
                <a:ea typeface="Petrona Bold" pitchFamily="34" charset="-122"/>
                <a:cs typeface="Petrona Bold" pitchFamily="34" charset="-120"/>
              </a:rPr>
              <a:t>Data Augmentation</a:t>
            </a:r>
            <a:endParaRPr lang="en-US" sz="2300" dirty="0"/>
          </a:p>
        </p:txBody>
      </p:sp>
      <p:sp>
        <p:nvSpPr>
          <p:cNvPr id="5" name="Text 2"/>
          <p:cNvSpPr/>
          <p:nvPr/>
        </p:nvSpPr>
        <p:spPr>
          <a:xfrm>
            <a:off x="2154674" y="4031099"/>
            <a:ext cx="11681936" cy="362903"/>
          </a:xfrm>
          <a:prstGeom prst="rect">
            <a:avLst/>
          </a:prstGeom>
          <a:noFill/>
          <a:ln/>
        </p:spPr>
        <p:txBody>
          <a:bodyPr wrap="none" lIns="0" tIns="0" rIns="0" bIns="0" rtlCol="0" anchor="t"/>
          <a:lstStyle/>
          <a:p>
            <a:pPr algn="l" indent="0" marL="0">
              <a:lnSpc>
                <a:spcPts val="2850"/>
              </a:lnSpc>
              <a:buNone/>
            </a:pPr>
            <a:r>
              <a:rPr lang="en-US" sz="1750" dirty="0">
                <a:solidFill>
                  <a:srgbClr val="E0D6DE"/>
                </a:solidFill>
                <a:latin typeface="Inter" pitchFamily="34" charset="0"/>
                <a:ea typeface="Inter" pitchFamily="34" charset="-122"/>
                <a:cs typeface="Inter" pitchFamily="34" charset="-120"/>
              </a:rPr>
              <a:t>Improved robustness from 80% to 96% accuracy, better handling real-world variations.</a:t>
            </a:r>
            <a:endParaRPr lang="en-US" sz="1750" dirty="0"/>
          </a:p>
        </p:txBody>
      </p:sp>
      <p:pic>
        <p:nvPicPr>
          <p:cNvPr id="6" name="Image 1" descr="preencoded.png"/>
          <p:cNvPicPr>
            <a:picLocks noChangeAspect="1"/>
          </p:cNvPicPr>
          <p:nvPr/>
        </p:nvPicPr>
        <p:blipFill>
          <a:blip r:embed="rId2"/>
          <a:stretch>
            <a:fillRect/>
          </a:stretch>
        </p:blipFill>
        <p:spPr>
          <a:xfrm>
            <a:off x="793790" y="4657011"/>
            <a:ext cx="1134070" cy="1360884"/>
          </a:xfrm>
          <a:prstGeom prst="rect">
            <a:avLst/>
          </a:prstGeom>
        </p:spPr>
      </p:pic>
      <p:sp>
        <p:nvSpPr>
          <p:cNvPr id="7" name="Text 3"/>
          <p:cNvSpPr/>
          <p:nvPr/>
        </p:nvSpPr>
        <p:spPr>
          <a:xfrm>
            <a:off x="2154674" y="4883825"/>
            <a:ext cx="4325303" cy="372070"/>
          </a:xfrm>
          <a:prstGeom prst="rect">
            <a:avLst/>
          </a:prstGeom>
          <a:noFill/>
          <a:ln/>
        </p:spPr>
        <p:txBody>
          <a:bodyPr wrap="none" lIns="0" tIns="0" rIns="0" bIns="0" rtlCol="0" anchor="t"/>
          <a:lstStyle/>
          <a:p>
            <a:pPr algn="l" indent="0" marL="0">
              <a:lnSpc>
                <a:spcPts val="2900"/>
              </a:lnSpc>
              <a:buNone/>
            </a:pPr>
            <a:r>
              <a:rPr lang="en-US" sz="2300" b="1" dirty="0">
                <a:solidFill>
                  <a:srgbClr val="E0D6DE"/>
                </a:solidFill>
                <a:latin typeface="Petrona Bold" pitchFamily="34" charset="0"/>
                <a:ea typeface="Petrona Bold" pitchFamily="34" charset="-122"/>
                <a:cs typeface="Petrona Bold" pitchFamily="34" charset="-120"/>
              </a:rPr>
              <a:t>Batch Normalization &amp; Dropout</a:t>
            </a:r>
            <a:endParaRPr lang="en-US" sz="2300" dirty="0"/>
          </a:p>
        </p:txBody>
      </p:sp>
      <p:sp>
        <p:nvSpPr>
          <p:cNvPr id="8" name="Text 4"/>
          <p:cNvSpPr/>
          <p:nvPr/>
        </p:nvSpPr>
        <p:spPr>
          <a:xfrm>
            <a:off x="2154674" y="5391983"/>
            <a:ext cx="11681936" cy="362903"/>
          </a:xfrm>
          <a:prstGeom prst="rect">
            <a:avLst/>
          </a:prstGeom>
          <a:noFill/>
          <a:ln/>
        </p:spPr>
        <p:txBody>
          <a:bodyPr wrap="none" lIns="0" tIns="0" rIns="0" bIns="0" rtlCol="0" anchor="t"/>
          <a:lstStyle/>
          <a:p>
            <a:pPr algn="l" indent="0" marL="0">
              <a:lnSpc>
                <a:spcPts val="2850"/>
              </a:lnSpc>
              <a:buNone/>
            </a:pPr>
            <a:r>
              <a:rPr lang="en-US" sz="1750" dirty="0">
                <a:solidFill>
                  <a:srgbClr val="E0D6DE"/>
                </a:solidFill>
                <a:latin typeface="Inter" pitchFamily="34" charset="0"/>
                <a:ea typeface="Inter" pitchFamily="34" charset="-122"/>
                <a:cs typeface="Inter" pitchFamily="34" charset="-120"/>
              </a:rPr>
              <a:t>Significantly reduced overfitting and improved convergence speed.</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060728"/>
            <a:ext cx="6913364" cy="744260"/>
          </a:xfrm>
          <a:prstGeom prst="rect">
            <a:avLst/>
          </a:prstGeom>
          <a:noFill/>
          <a:ln/>
        </p:spPr>
        <p:txBody>
          <a:bodyPr wrap="none" lIns="0" tIns="0" rIns="0" bIns="0" rtlCol="0" anchor="t"/>
          <a:lstStyle/>
          <a:p>
            <a:pPr algn="l" indent="0" marL="0">
              <a:lnSpc>
                <a:spcPts val="5850"/>
              </a:lnSpc>
              <a:buNone/>
            </a:pPr>
            <a:r>
              <a:rPr lang="en-US" sz="4650" b="1" dirty="0">
                <a:solidFill>
                  <a:srgbClr val="FF8AAF"/>
                </a:solidFill>
                <a:latin typeface="Petrona Bold" pitchFamily="34" charset="0"/>
                <a:ea typeface="Petrona Bold" pitchFamily="34" charset="-122"/>
                <a:cs typeface="Petrona Bold" pitchFamily="34" charset="-120"/>
              </a:rPr>
              <a:t>Limitations &amp; Challenges</a:t>
            </a:r>
            <a:endParaRPr lang="en-US" sz="4650" dirty="0"/>
          </a:p>
        </p:txBody>
      </p:sp>
      <p:sp>
        <p:nvSpPr>
          <p:cNvPr id="4" name="Shape 1"/>
          <p:cNvSpPr/>
          <p:nvPr/>
        </p:nvSpPr>
        <p:spPr>
          <a:xfrm>
            <a:off x="793790" y="2485311"/>
            <a:ext cx="3664744" cy="2421136"/>
          </a:xfrm>
          <a:prstGeom prst="roundRect">
            <a:avLst>
              <a:gd name="adj" fmla="val 6043"/>
            </a:avLst>
          </a:prstGeom>
          <a:solidFill>
            <a:srgbClr val="0C0524">
              <a:alpha val="95000"/>
            </a:srgbClr>
          </a:solidFill>
          <a:ln/>
        </p:spPr>
      </p:sp>
      <p:pic>
        <p:nvPicPr>
          <p:cNvPr id="5" name="Image 1" descr="preencoded.png"/>
          <p:cNvPicPr>
            <a:picLocks noChangeAspect="1"/>
          </p:cNvPicPr>
          <p:nvPr/>
        </p:nvPicPr>
        <p:blipFill>
          <a:blip r:embed="rId2"/>
          <a:stretch>
            <a:fillRect/>
          </a:stretch>
        </p:blipFill>
        <p:spPr>
          <a:xfrm>
            <a:off x="793790" y="2454831"/>
            <a:ext cx="3664744" cy="121920"/>
          </a:xfrm>
          <a:prstGeom prst="rect">
            <a:avLst/>
          </a:prstGeom>
        </p:spPr>
      </p:pic>
      <p:pic>
        <p:nvPicPr>
          <p:cNvPr id="6" name="Image 2" descr="preencoded.png"/>
          <p:cNvPicPr>
            <a:picLocks noChangeAspect="1"/>
          </p:cNvPicPr>
          <p:nvPr/>
        </p:nvPicPr>
        <p:blipFill>
          <a:blip r:embed="rId3"/>
          <a:stretch>
            <a:fillRect/>
          </a:stretch>
        </p:blipFill>
        <p:spPr>
          <a:xfrm>
            <a:off x="2285940" y="2145149"/>
            <a:ext cx="680442" cy="680442"/>
          </a:xfrm>
          <a:prstGeom prst="rect">
            <a:avLst/>
          </a:prstGeom>
        </p:spPr>
      </p:pic>
      <p:sp>
        <p:nvSpPr>
          <p:cNvPr id="7" name="Text 2"/>
          <p:cNvSpPr/>
          <p:nvPr/>
        </p:nvSpPr>
        <p:spPr>
          <a:xfrm>
            <a:off x="2490014" y="2315289"/>
            <a:ext cx="272177" cy="340162"/>
          </a:xfrm>
          <a:prstGeom prst="rect">
            <a:avLst/>
          </a:prstGeom>
          <a:noFill/>
          <a:ln/>
        </p:spPr>
        <p:txBody>
          <a:bodyPr wrap="none" lIns="0" tIns="0" rIns="0" bIns="0" rtlCol="0" anchor="t"/>
          <a:lstStyle/>
          <a:p>
            <a:pPr algn="l" indent="0" marL="0">
              <a:lnSpc>
                <a:spcPts val="3400"/>
              </a:lnSpc>
              <a:buNone/>
            </a:pPr>
            <a:r>
              <a:rPr lang="en-US" sz="2100" b="1" dirty="0">
                <a:solidFill>
                  <a:srgbClr val="FFFFFF"/>
                </a:solidFill>
                <a:latin typeface="Petrona Bold" pitchFamily="34" charset="0"/>
                <a:ea typeface="Petrona Bold" pitchFamily="34" charset="-122"/>
                <a:cs typeface="Petrona Bold" pitchFamily="34" charset="-120"/>
              </a:rPr>
              <a:t>1</a:t>
            </a:r>
            <a:endParaRPr lang="en-US" sz="2100" dirty="0"/>
          </a:p>
        </p:txBody>
      </p:sp>
      <p:sp>
        <p:nvSpPr>
          <p:cNvPr id="8" name="Text 3"/>
          <p:cNvSpPr/>
          <p:nvPr/>
        </p:nvSpPr>
        <p:spPr>
          <a:xfrm>
            <a:off x="1051084" y="3052286"/>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E0D6DE"/>
                </a:solidFill>
                <a:latin typeface="Petrona Bold" pitchFamily="34" charset="0"/>
                <a:ea typeface="Petrona Bold" pitchFamily="34" charset="-122"/>
                <a:cs typeface="Petrona Bold" pitchFamily="34" charset="-120"/>
              </a:rPr>
              <a:t>Class Imbalance</a:t>
            </a:r>
            <a:endParaRPr lang="en-US" sz="2300" dirty="0"/>
          </a:p>
        </p:txBody>
      </p:sp>
      <p:sp>
        <p:nvSpPr>
          <p:cNvPr id="9" name="Text 4"/>
          <p:cNvSpPr/>
          <p:nvPr/>
        </p:nvSpPr>
        <p:spPr>
          <a:xfrm>
            <a:off x="1051084" y="3560445"/>
            <a:ext cx="3150156" cy="1088708"/>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Inter" pitchFamily="34" charset="0"/>
                <a:ea typeface="Inter" pitchFamily="34" charset="-122"/>
                <a:cs typeface="Inter" pitchFamily="34" charset="-120"/>
              </a:rPr>
              <a:t>Certain signs were underrepresented in the dataset.</a:t>
            </a:r>
            <a:endParaRPr lang="en-US" sz="1750" dirty="0"/>
          </a:p>
        </p:txBody>
      </p:sp>
      <p:sp>
        <p:nvSpPr>
          <p:cNvPr id="10" name="Shape 5"/>
          <p:cNvSpPr/>
          <p:nvPr/>
        </p:nvSpPr>
        <p:spPr>
          <a:xfrm>
            <a:off x="4685348" y="2485311"/>
            <a:ext cx="3664863" cy="2421136"/>
          </a:xfrm>
          <a:prstGeom prst="roundRect">
            <a:avLst>
              <a:gd name="adj" fmla="val 6043"/>
            </a:avLst>
          </a:prstGeom>
          <a:solidFill>
            <a:srgbClr val="0C0524">
              <a:alpha val="95000"/>
            </a:srgbClr>
          </a:solidFill>
          <a:ln/>
        </p:spPr>
      </p:sp>
      <p:pic>
        <p:nvPicPr>
          <p:cNvPr id="11" name="Image 3" descr="preencoded.png"/>
          <p:cNvPicPr>
            <a:picLocks noChangeAspect="1"/>
          </p:cNvPicPr>
          <p:nvPr/>
        </p:nvPicPr>
        <p:blipFill>
          <a:blip r:embed="rId4"/>
          <a:stretch>
            <a:fillRect/>
          </a:stretch>
        </p:blipFill>
        <p:spPr>
          <a:xfrm>
            <a:off x="4685348" y="2454831"/>
            <a:ext cx="3664863" cy="121920"/>
          </a:xfrm>
          <a:prstGeom prst="rect">
            <a:avLst/>
          </a:prstGeom>
        </p:spPr>
      </p:pic>
      <p:pic>
        <p:nvPicPr>
          <p:cNvPr id="12" name="Image 4" descr="preencoded.png"/>
          <p:cNvPicPr>
            <a:picLocks noChangeAspect="1"/>
          </p:cNvPicPr>
          <p:nvPr/>
        </p:nvPicPr>
        <p:blipFill>
          <a:blip r:embed="rId5"/>
          <a:stretch>
            <a:fillRect/>
          </a:stretch>
        </p:blipFill>
        <p:spPr>
          <a:xfrm>
            <a:off x="6177498" y="2145149"/>
            <a:ext cx="680442" cy="680442"/>
          </a:xfrm>
          <a:prstGeom prst="rect">
            <a:avLst/>
          </a:prstGeom>
        </p:spPr>
      </p:pic>
      <p:sp>
        <p:nvSpPr>
          <p:cNvPr id="13" name="Text 6"/>
          <p:cNvSpPr/>
          <p:nvPr/>
        </p:nvSpPr>
        <p:spPr>
          <a:xfrm>
            <a:off x="6381571" y="2315289"/>
            <a:ext cx="272177" cy="340162"/>
          </a:xfrm>
          <a:prstGeom prst="rect">
            <a:avLst/>
          </a:prstGeom>
          <a:noFill/>
          <a:ln/>
        </p:spPr>
        <p:txBody>
          <a:bodyPr wrap="none" lIns="0" tIns="0" rIns="0" bIns="0" rtlCol="0" anchor="t"/>
          <a:lstStyle/>
          <a:p>
            <a:pPr algn="l" indent="0" marL="0">
              <a:lnSpc>
                <a:spcPts val="3400"/>
              </a:lnSpc>
              <a:buNone/>
            </a:pPr>
            <a:r>
              <a:rPr lang="en-US" sz="2100" b="1" dirty="0">
                <a:solidFill>
                  <a:srgbClr val="FFFFFF"/>
                </a:solidFill>
                <a:latin typeface="Petrona Bold" pitchFamily="34" charset="0"/>
                <a:ea typeface="Petrona Bold" pitchFamily="34" charset="-122"/>
                <a:cs typeface="Petrona Bold" pitchFamily="34" charset="-120"/>
              </a:rPr>
              <a:t>2</a:t>
            </a:r>
            <a:endParaRPr lang="en-US" sz="2100" dirty="0"/>
          </a:p>
        </p:txBody>
      </p:sp>
      <p:sp>
        <p:nvSpPr>
          <p:cNvPr id="14" name="Text 7"/>
          <p:cNvSpPr/>
          <p:nvPr/>
        </p:nvSpPr>
        <p:spPr>
          <a:xfrm>
            <a:off x="4942642" y="3052286"/>
            <a:ext cx="3127415" cy="372070"/>
          </a:xfrm>
          <a:prstGeom prst="rect">
            <a:avLst/>
          </a:prstGeom>
          <a:noFill/>
          <a:ln/>
        </p:spPr>
        <p:txBody>
          <a:bodyPr wrap="none" lIns="0" tIns="0" rIns="0" bIns="0" rtlCol="0" anchor="t"/>
          <a:lstStyle/>
          <a:p>
            <a:pPr algn="l" indent="0" marL="0">
              <a:lnSpc>
                <a:spcPts val="2900"/>
              </a:lnSpc>
              <a:buNone/>
            </a:pPr>
            <a:r>
              <a:rPr lang="en-US" sz="2300" b="1" dirty="0">
                <a:solidFill>
                  <a:srgbClr val="E0D6DE"/>
                </a:solidFill>
                <a:latin typeface="Petrona Bold" pitchFamily="34" charset="0"/>
                <a:ea typeface="Petrona Bold" pitchFamily="34" charset="-122"/>
                <a:cs typeface="Petrona Bold" pitchFamily="34" charset="-120"/>
              </a:rPr>
              <a:t>Real-World Conditions</a:t>
            </a:r>
            <a:endParaRPr lang="en-US" sz="2300" dirty="0"/>
          </a:p>
        </p:txBody>
      </p:sp>
      <p:sp>
        <p:nvSpPr>
          <p:cNvPr id="15" name="Text 8"/>
          <p:cNvSpPr/>
          <p:nvPr/>
        </p:nvSpPr>
        <p:spPr>
          <a:xfrm>
            <a:off x="4942642" y="3560445"/>
            <a:ext cx="3150275" cy="1088708"/>
          </a:xfrm>
          <a:prstGeom prst="rect">
            <a:avLst/>
          </a:prstGeom>
          <a:noFill/>
          <a:ln/>
        </p:spPr>
        <p:txBody>
          <a:bodyPr wrap="square" lIns="0" tIns="0" rIns="0" bIns="0" rtlCol="0" anchor="t"/>
          <a:lstStyle/>
          <a:p>
            <a:pPr algn="l" indent="0" marL="0">
              <a:lnSpc>
                <a:spcPts val="2850"/>
              </a:lnSpc>
              <a:buNone/>
            </a:pPr>
            <a:r>
              <a:rPr lang="en-US" sz="1750" dirty="0">
                <a:solidFill>
                  <a:srgbClr val="E0D6DE"/>
                </a:solidFill>
                <a:latin typeface="Inter" pitchFamily="34" charset="0"/>
                <a:ea typeface="Inter" pitchFamily="34" charset="-122"/>
                <a:cs typeface="Inter" pitchFamily="34" charset="-120"/>
              </a:rPr>
              <a:t>Model not tested in extreme conditions (e.g., heavy weather, occlusion).</a:t>
            </a:r>
            <a:endParaRPr lang="en-US" sz="1750" dirty="0"/>
          </a:p>
        </p:txBody>
      </p:sp>
      <p:sp>
        <p:nvSpPr>
          <p:cNvPr id="16" name="Shape 9"/>
          <p:cNvSpPr/>
          <p:nvPr/>
        </p:nvSpPr>
        <p:spPr>
          <a:xfrm>
            <a:off x="793790" y="5473422"/>
            <a:ext cx="7556421" cy="1695331"/>
          </a:xfrm>
          <a:prstGeom prst="roundRect">
            <a:avLst>
              <a:gd name="adj" fmla="val 8630"/>
            </a:avLst>
          </a:prstGeom>
          <a:solidFill>
            <a:srgbClr val="0C0524">
              <a:alpha val="95000"/>
            </a:srgbClr>
          </a:solidFill>
          <a:ln/>
        </p:spPr>
      </p:sp>
      <p:pic>
        <p:nvPicPr>
          <p:cNvPr id="17" name="Image 5" descr="preencoded.png"/>
          <p:cNvPicPr>
            <a:picLocks noChangeAspect="1"/>
          </p:cNvPicPr>
          <p:nvPr/>
        </p:nvPicPr>
        <p:blipFill>
          <a:blip r:embed="rId6"/>
          <a:stretch>
            <a:fillRect/>
          </a:stretch>
        </p:blipFill>
        <p:spPr>
          <a:xfrm>
            <a:off x="793790" y="5442942"/>
            <a:ext cx="7556421" cy="121920"/>
          </a:xfrm>
          <a:prstGeom prst="rect">
            <a:avLst/>
          </a:prstGeom>
        </p:spPr>
      </p:pic>
      <p:pic>
        <p:nvPicPr>
          <p:cNvPr id="18" name="Image 6" descr="preencoded.png"/>
          <p:cNvPicPr>
            <a:picLocks noChangeAspect="1"/>
          </p:cNvPicPr>
          <p:nvPr/>
        </p:nvPicPr>
        <p:blipFill>
          <a:blip r:embed="rId7"/>
          <a:stretch>
            <a:fillRect/>
          </a:stretch>
        </p:blipFill>
        <p:spPr>
          <a:xfrm>
            <a:off x="4231779" y="5133261"/>
            <a:ext cx="680442" cy="680442"/>
          </a:xfrm>
          <a:prstGeom prst="rect">
            <a:avLst/>
          </a:prstGeom>
        </p:spPr>
      </p:pic>
      <p:sp>
        <p:nvSpPr>
          <p:cNvPr id="19" name="Text 10"/>
          <p:cNvSpPr/>
          <p:nvPr/>
        </p:nvSpPr>
        <p:spPr>
          <a:xfrm>
            <a:off x="4435852" y="5303401"/>
            <a:ext cx="272177" cy="340162"/>
          </a:xfrm>
          <a:prstGeom prst="rect">
            <a:avLst/>
          </a:prstGeom>
          <a:noFill/>
          <a:ln/>
        </p:spPr>
        <p:txBody>
          <a:bodyPr wrap="none" lIns="0" tIns="0" rIns="0" bIns="0" rtlCol="0" anchor="t"/>
          <a:lstStyle/>
          <a:p>
            <a:pPr algn="l" indent="0" marL="0">
              <a:lnSpc>
                <a:spcPts val="3400"/>
              </a:lnSpc>
              <a:buNone/>
            </a:pPr>
            <a:r>
              <a:rPr lang="en-US" sz="2100" b="1" dirty="0">
                <a:solidFill>
                  <a:srgbClr val="FFFFFF"/>
                </a:solidFill>
                <a:latin typeface="Petrona Bold" pitchFamily="34" charset="0"/>
                <a:ea typeface="Petrona Bold" pitchFamily="34" charset="-122"/>
                <a:cs typeface="Petrona Bold" pitchFamily="34" charset="-120"/>
              </a:rPr>
              <a:t>3</a:t>
            </a:r>
            <a:endParaRPr lang="en-US" sz="2100" dirty="0"/>
          </a:p>
        </p:txBody>
      </p:sp>
      <p:sp>
        <p:nvSpPr>
          <p:cNvPr id="20" name="Text 11"/>
          <p:cNvSpPr/>
          <p:nvPr/>
        </p:nvSpPr>
        <p:spPr>
          <a:xfrm>
            <a:off x="1051084" y="6040398"/>
            <a:ext cx="2977039" cy="372070"/>
          </a:xfrm>
          <a:prstGeom prst="rect">
            <a:avLst/>
          </a:prstGeom>
          <a:noFill/>
          <a:ln/>
        </p:spPr>
        <p:txBody>
          <a:bodyPr wrap="none" lIns="0" tIns="0" rIns="0" bIns="0" rtlCol="0" anchor="t"/>
          <a:lstStyle/>
          <a:p>
            <a:pPr algn="l" indent="0" marL="0">
              <a:lnSpc>
                <a:spcPts val="2900"/>
              </a:lnSpc>
              <a:buNone/>
            </a:pPr>
            <a:r>
              <a:rPr lang="en-US" sz="2300" b="1" dirty="0">
                <a:solidFill>
                  <a:srgbClr val="E0D6DE"/>
                </a:solidFill>
                <a:latin typeface="Petrona Bold" pitchFamily="34" charset="0"/>
                <a:ea typeface="Petrona Bold" pitchFamily="34" charset="-122"/>
                <a:cs typeface="Petrona Bold" pitchFamily="34" charset="-120"/>
              </a:rPr>
              <a:t>Inference Latency</a:t>
            </a:r>
            <a:endParaRPr lang="en-US" sz="2300" dirty="0"/>
          </a:p>
        </p:txBody>
      </p:sp>
      <p:sp>
        <p:nvSpPr>
          <p:cNvPr id="21" name="Text 12"/>
          <p:cNvSpPr/>
          <p:nvPr/>
        </p:nvSpPr>
        <p:spPr>
          <a:xfrm>
            <a:off x="1051084" y="6548557"/>
            <a:ext cx="7041832" cy="362903"/>
          </a:xfrm>
          <a:prstGeom prst="rect">
            <a:avLst/>
          </a:prstGeom>
          <a:noFill/>
          <a:ln/>
        </p:spPr>
        <p:txBody>
          <a:bodyPr wrap="none" lIns="0" tIns="0" rIns="0" bIns="0" rtlCol="0" anchor="t"/>
          <a:lstStyle/>
          <a:p>
            <a:pPr algn="l" indent="0" marL="0">
              <a:lnSpc>
                <a:spcPts val="2850"/>
              </a:lnSpc>
              <a:buNone/>
            </a:pPr>
            <a:r>
              <a:rPr lang="en-US" sz="1750" dirty="0">
                <a:solidFill>
                  <a:srgbClr val="E0D6DE"/>
                </a:solidFill>
                <a:latin typeface="Inter" pitchFamily="34" charset="0"/>
                <a:ea typeface="Inter" pitchFamily="34" charset="-122"/>
                <a:cs typeface="Inter" pitchFamily="34" charset="-120"/>
              </a:rPr>
              <a:t>~50ms per image on CPU; GPU needed for real-time deployment.</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9114" y="734258"/>
            <a:ext cx="7618571" cy="1215628"/>
          </a:xfrm>
          <a:prstGeom prst="rect">
            <a:avLst/>
          </a:prstGeom>
          <a:noFill/>
          <a:ln/>
        </p:spPr>
        <p:txBody>
          <a:bodyPr wrap="square" lIns="0" tIns="0" rIns="0" bIns="0" rtlCol="0" anchor="t"/>
          <a:lstStyle/>
          <a:p>
            <a:pPr algn="l" indent="0" marL="0">
              <a:lnSpc>
                <a:spcPts val="4750"/>
              </a:lnSpc>
              <a:buNone/>
            </a:pPr>
            <a:r>
              <a:rPr lang="en-US" sz="3800" b="1" dirty="0">
                <a:solidFill>
                  <a:srgbClr val="FF8AAF"/>
                </a:solidFill>
                <a:latin typeface="Petrona Bold" pitchFamily="34" charset="0"/>
                <a:ea typeface="Petrona Bold" pitchFamily="34" charset="-122"/>
                <a:cs typeface="Petrona Bold" pitchFamily="34" charset="-120"/>
              </a:rPr>
              <a:t>Recommendations for Enhancement</a:t>
            </a:r>
            <a:endParaRPr lang="en-US" sz="3800" dirty="0"/>
          </a:p>
        </p:txBody>
      </p:sp>
      <p:sp>
        <p:nvSpPr>
          <p:cNvPr id="4" name="Shape 1"/>
          <p:cNvSpPr/>
          <p:nvPr/>
        </p:nvSpPr>
        <p:spPr>
          <a:xfrm>
            <a:off x="6249114" y="2227659"/>
            <a:ext cx="740926" cy="1111448"/>
          </a:xfrm>
          <a:prstGeom prst="roundRect">
            <a:avLst>
              <a:gd name="adj" fmla="val 360048"/>
            </a:avLst>
          </a:prstGeom>
          <a:solidFill>
            <a:srgbClr val="2F1D63"/>
          </a:solidFill>
          <a:ln w="7620">
            <a:solidFill>
              <a:srgbClr val="48367C"/>
            </a:solidFill>
            <a:prstDash val="solid"/>
          </a:ln>
        </p:spPr>
      </p:sp>
      <p:pic>
        <p:nvPicPr>
          <p:cNvPr id="5" name="Image 1" descr="preencoded.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480691" y="2644497"/>
            <a:ext cx="277773" cy="277773"/>
          </a:xfrm>
          <a:prstGeom prst="rect">
            <a:avLst/>
          </a:prstGeom>
        </p:spPr>
      </p:pic>
      <p:sp>
        <p:nvSpPr>
          <p:cNvPr id="6" name="Text 2"/>
          <p:cNvSpPr/>
          <p:nvPr/>
        </p:nvSpPr>
        <p:spPr>
          <a:xfrm>
            <a:off x="7175183" y="2412802"/>
            <a:ext cx="2676525" cy="303848"/>
          </a:xfrm>
          <a:prstGeom prst="rect">
            <a:avLst/>
          </a:prstGeom>
          <a:noFill/>
          <a:ln/>
        </p:spPr>
        <p:txBody>
          <a:bodyPr wrap="none" lIns="0" tIns="0" rIns="0" bIns="0" rtlCol="0" anchor="t"/>
          <a:lstStyle/>
          <a:p>
            <a:pPr algn="l" indent="0" marL="0">
              <a:lnSpc>
                <a:spcPts val="2350"/>
              </a:lnSpc>
              <a:buNone/>
            </a:pPr>
            <a:r>
              <a:rPr lang="en-US" sz="1900" b="1" dirty="0">
                <a:solidFill>
                  <a:srgbClr val="E0D6DE"/>
                </a:solidFill>
                <a:latin typeface="Petrona Bold" pitchFamily="34" charset="0"/>
                <a:ea typeface="Petrona Bold" pitchFamily="34" charset="-122"/>
                <a:cs typeface="Petrona Bold" pitchFamily="34" charset="-120"/>
              </a:rPr>
              <a:t>Advanced Architectures</a:t>
            </a:r>
            <a:endParaRPr lang="en-US" sz="1900" dirty="0"/>
          </a:p>
        </p:txBody>
      </p:sp>
      <p:sp>
        <p:nvSpPr>
          <p:cNvPr id="7" name="Text 3"/>
          <p:cNvSpPr/>
          <p:nvPr/>
        </p:nvSpPr>
        <p:spPr>
          <a:xfrm>
            <a:off x="7175183" y="2827734"/>
            <a:ext cx="6692503" cy="296347"/>
          </a:xfrm>
          <a:prstGeom prst="rect">
            <a:avLst/>
          </a:prstGeom>
          <a:noFill/>
          <a:ln/>
        </p:spPr>
        <p:txBody>
          <a:bodyPr wrap="none" lIns="0" tIns="0" rIns="0" bIns="0" rtlCol="0" anchor="t"/>
          <a:lstStyle/>
          <a:p>
            <a:pPr algn="l" indent="0" marL="0">
              <a:lnSpc>
                <a:spcPts val="2300"/>
              </a:lnSpc>
              <a:buNone/>
            </a:pPr>
            <a:r>
              <a:rPr lang="en-US" sz="1450" dirty="0">
                <a:solidFill>
                  <a:srgbClr val="E0D6DE"/>
                </a:solidFill>
                <a:latin typeface="Inter" pitchFamily="34" charset="0"/>
                <a:ea typeface="Inter" pitchFamily="34" charset="-122"/>
                <a:cs typeface="Inter" pitchFamily="34" charset="-120"/>
              </a:rPr>
              <a:t>Explore Residual Networks, MobileNet, EfficientNet, Vision Transformers.</a:t>
            </a:r>
            <a:endParaRPr lang="en-US" sz="1450" dirty="0"/>
          </a:p>
        </p:txBody>
      </p:sp>
      <p:sp>
        <p:nvSpPr>
          <p:cNvPr id="8" name="Shape 4"/>
          <p:cNvSpPr/>
          <p:nvPr/>
        </p:nvSpPr>
        <p:spPr>
          <a:xfrm>
            <a:off x="6249114" y="3524250"/>
            <a:ext cx="740926" cy="1111448"/>
          </a:xfrm>
          <a:prstGeom prst="roundRect">
            <a:avLst>
              <a:gd name="adj" fmla="val 360048"/>
            </a:avLst>
          </a:prstGeom>
          <a:solidFill>
            <a:srgbClr val="2F1D63"/>
          </a:solidFill>
          <a:ln w="7620">
            <a:solidFill>
              <a:srgbClr val="48367C"/>
            </a:solidFill>
            <a:prstDash val="solid"/>
          </a:ln>
        </p:spPr>
      </p:sp>
      <p:pic>
        <p:nvPicPr>
          <p:cNvPr id="9"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480691" y="3941088"/>
            <a:ext cx="277773" cy="277773"/>
          </a:xfrm>
          <a:prstGeom prst="rect">
            <a:avLst/>
          </a:prstGeom>
        </p:spPr>
      </p:pic>
      <p:sp>
        <p:nvSpPr>
          <p:cNvPr id="10" name="Text 5"/>
          <p:cNvSpPr/>
          <p:nvPr/>
        </p:nvSpPr>
        <p:spPr>
          <a:xfrm>
            <a:off x="7175183" y="3709392"/>
            <a:ext cx="3338036" cy="303848"/>
          </a:xfrm>
          <a:prstGeom prst="rect">
            <a:avLst/>
          </a:prstGeom>
          <a:noFill/>
          <a:ln/>
        </p:spPr>
        <p:txBody>
          <a:bodyPr wrap="none" lIns="0" tIns="0" rIns="0" bIns="0" rtlCol="0" anchor="t"/>
          <a:lstStyle/>
          <a:p>
            <a:pPr algn="l" indent="0" marL="0">
              <a:lnSpc>
                <a:spcPts val="2350"/>
              </a:lnSpc>
              <a:buNone/>
            </a:pPr>
            <a:r>
              <a:rPr lang="en-US" sz="1900" b="1" dirty="0">
                <a:solidFill>
                  <a:srgbClr val="E0D6DE"/>
                </a:solidFill>
                <a:latin typeface="Petrona Bold" pitchFamily="34" charset="0"/>
                <a:ea typeface="Petrona Bold" pitchFamily="34" charset="-122"/>
                <a:cs typeface="Petrona Bold" pitchFamily="34" charset="-120"/>
              </a:rPr>
              <a:t>Expanded Data Augmentation</a:t>
            </a:r>
            <a:endParaRPr lang="en-US" sz="1900" dirty="0"/>
          </a:p>
        </p:txBody>
      </p:sp>
      <p:sp>
        <p:nvSpPr>
          <p:cNvPr id="11" name="Text 6"/>
          <p:cNvSpPr/>
          <p:nvPr/>
        </p:nvSpPr>
        <p:spPr>
          <a:xfrm>
            <a:off x="7175183" y="4124325"/>
            <a:ext cx="6692503" cy="296347"/>
          </a:xfrm>
          <a:prstGeom prst="rect">
            <a:avLst/>
          </a:prstGeom>
          <a:noFill/>
          <a:ln/>
        </p:spPr>
        <p:txBody>
          <a:bodyPr wrap="none" lIns="0" tIns="0" rIns="0" bIns="0" rtlCol="0" anchor="t"/>
          <a:lstStyle/>
          <a:p>
            <a:pPr algn="l" indent="0" marL="0">
              <a:lnSpc>
                <a:spcPts val="2300"/>
              </a:lnSpc>
              <a:buNone/>
            </a:pPr>
            <a:r>
              <a:rPr lang="en-US" sz="1450" dirty="0">
                <a:solidFill>
                  <a:srgbClr val="E0D6DE"/>
                </a:solidFill>
                <a:latin typeface="Inter" pitchFamily="34" charset="0"/>
                <a:ea typeface="Inter" pitchFamily="34" charset="-122"/>
                <a:cs typeface="Inter" pitchFamily="34" charset="-120"/>
              </a:rPr>
              <a:t>Simulate weather, occlusion, and synthetic image generation.</a:t>
            </a:r>
            <a:endParaRPr lang="en-US" sz="1450" dirty="0"/>
          </a:p>
        </p:txBody>
      </p:sp>
      <p:sp>
        <p:nvSpPr>
          <p:cNvPr id="12" name="Shape 7"/>
          <p:cNvSpPr/>
          <p:nvPr/>
        </p:nvSpPr>
        <p:spPr>
          <a:xfrm>
            <a:off x="6249114" y="4820841"/>
            <a:ext cx="740926" cy="1377910"/>
          </a:xfrm>
          <a:prstGeom prst="roundRect">
            <a:avLst>
              <a:gd name="adj" fmla="val 360048"/>
            </a:avLst>
          </a:prstGeom>
          <a:solidFill>
            <a:srgbClr val="2F1D63"/>
          </a:solidFill>
          <a:ln w="7620">
            <a:solidFill>
              <a:srgbClr val="48367C"/>
            </a:solidFill>
            <a:prstDash val="solid"/>
          </a:ln>
        </p:spPr>
      </p:sp>
      <p:pic>
        <p:nvPicPr>
          <p:cNvPr id="13" name="Image 3"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80691" y="5370909"/>
            <a:ext cx="277773" cy="277773"/>
          </a:xfrm>
          <a:prstGeom prst="rect">
            <a:avLst/>
          </a:prstGeom>
        </p:spPr>
      </p:pic>
      <p:sp>
        <p:nvSpPr>
          <p:cNvPr id="14" name="Text 8"/>
          <p:cNvSpPr/>
          <p:nvPr/>
        </p:nvSpPr>
        <p:spPr>
          <a:xfrm>
            <a:off x="7175183" y="5005983"/>
            <a:ext cx="2439353" cy="303848"/>
          </a:xfrm>
          <a:prstGeom prst="rect">
            <a:avLst/>
          </a:prstGeom>
          <a:noFill/>
          <a:ln/>
        </p:spPr>
        <p:txBody>
          <a:bodyPr wrap="none" lIns="0" tIns="0" rIns="0" bIns="0" rtlCol="0" anchor="t"/>
          <a:lstStyle/>
          <a:p>
            <a:pPr algn="l" indent="0" marL="0">
              <a:lnSpc>
                <a:spcPts val="2350"/>
              </a:lnSpc>
              <a:buNone/>
            </a:pPr>
            <a:r>
              <a:rPr lang="en-US" sz="1900" b="1" dirty="0">
                <a:solidFill>
                  <a:srgbClr val="E0D6DE"/>
                </a:solidFill>
                <a:latin typeface="Petrona Bold" pitchFamily="34" charset="0"/>
                <a:ea typeface="Petrona Bold" pitchFamily="34" charset="-122"/>
                <a:cs typeface="Petrona Bold" pitchFamily="34" charset="-120"/>
              </a:rPr>
              <a:t>Efficiency &amp; Accuracy</a:t>
            </a:r>
            <a:endParaRPr lang="en-US" sz="1900" dirty="0"/>
          </a:p>
        </p:txBody>
      </p:sp>
      <p:sp>
        <p:nvSpPr>
          <p:cNvPr id="15" name="Text 9"/>
          <p:cNvSpPr/>
          <p:nvPr/>
        </p:nvSpPr>
        <p:spPr>
          <a:xfrm>
            <a:off x="7175183" y="5420916"/>
            <a:ext cx="6692503" cy="592693"/>
          </a:xfrm>
          <a:prstGeom prst="rect">
            <a:avLst/>
          </a:prstGeom>
          <a:noFill/>
          <a:ln/>
        </p:spPr>
        <p:txBody>
          <a:bodyPr wrap="square" lIns="0" tIns="0" rIns="0" bIns="0" rtlCol="0" anchor="t"/>
          <a:lstStyle/>
          <a:p>
            <a:pPr algn="l" indent="0" marL="0">
              <a:lnSpc>
                <a:spcPts val="2300"/>
              </a:lnSpc>
              <a:buNone/>
            </a:pPr>
            <a:r>
              <a:rPr lang="en-US" sz="1450" dirty="0">
                <a:solidFill>
                  <a:srgbClr val="E0D6DE"/>
                </a:solidFill>
                <a:latin typeface="Inter" pitchFamily="34" charset="0"/>
                <a:ea typeface="Inter" pitchFamily="34" charset="-122"/>
                <a:cs typeface="Inter" pitchFamily="34" charset="-120"/>
              </a:rPr>
              <a:t>Implement ensemble methods, knowledge distillation, quantization, and model pruning.</a:t>
            </a:r>
            <a:endParaRPr lang="en-US" sz="1450" dirty="0"/>
          </a:p>
        </p:txBody>
      </p:sp>
      <p:sp>
        <p:nvSpPr>
          <p:cNvPr id="16" name="Shape 10"/>
          <p:cNvSpPr/>
          <p:nvPr/>
        </p:nvSpPr>
        <p:spPr>
          <a:xfrm>
            <a:off x="6249114" y="6383893"/>
            <a:ext cx="740926" cy="1111448"/>
          </a:xfrm>
          <a:prstGeom prst="roundRect">
            <a:avLst>
              <a:gd name="adj" fmla="val 360048"/>
            </a:avLst>
          </a:prstGeom>
          <a:solidFill>
            <a:srgbClr val="2F1D63"/>
          </a:solidFill>
          <a:ln w="7620">
            <a:solidFill>
              <a:srgbClr val="48367C"/>
            </a:solidFill>
            <a:prstDash val="solid"/>
          </a:ln>
        </p:spPr>
      </p:sp>
      <p:pic>
        <p:nvPicPr>
          <p:cNvPr id="17" name="Image 4"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80691" y="6800731"/>
            <a:ext cx="277773" cy="277773"/>
          </a:xfrm>
          <a:prstGeom prst="rect">
            <a:avLst/>
          </a:prstGeom>
        </p:spPr>
      </p:pic>
      <p:sp>
        <p:nvSpPr>
          <p:cNvPr id="18" name="Text 11"/>
          <p:cNvSpPr/>
          <p:nvPr/>
        </p:nvSpPr>
        <p:spPr>
          <a:xfrm>
            <a:off x="7175183" y="6569035"/>
            <a:ext cx="2431375" cy="303848"/>
          </a:xfrm>
          <a:prstGeom prst="rect">
            <a:avLst/>
          </a:prstGeom>
          <a:noFill/>
          <a:ln/>
        </p:spPr>
        <p:txBody>
          <a:bodyPr wrap="none" lIns="0" tIns="0" rIns="0" bIns="0" rtlCol="0" anchor="t"/>
          <a:lstStyle/>
          <a:p>
            <a:pPr algn="l" indent="0" marL="0">
              <a:lnSpc>
                <a:spcPts val="2350"/>
              </a:lnSpc>
              <a:buNone/>
            </a:pPr>
            <a:r>
              <a:rPr lang="en-US" sz="1900" b="1" dirty="0">
                <a:solidFill>
                  <a:srgbClr val="E0D6DE"/>
                </a:solidFill>
                <a:latin typeface="Petrona Bold" pitchFamily="34" charset="0"/>
                <a:ea typeface="Petrona Bold" pitchFamily="34" charset="-122"/>
                <a:cs typeface="Petrona Bold" pitchFamily="34" charset="-120"/>
              </a:rPr>
              <a:t>Continuous Learning</a:t>
            </a:r>
            <a:endParaRPr lang="en-US" sz="1900" dirty="0"/>
          </a:p>
        </p:txBody>
      </p:sp>
      <p:sp>
        <p:nvSpPr>
          <p:cNvPr id="19" name="Text 12"/>
          <p:cNvSpPr/>
          <p:nvPr/>
        </p:nvSpPr>
        <p:spPr>
          <a:xfrm>
            <a:off x="7175183" y="6983968"/>
            <a:ext cx="6692503" cy="296347"/>
          </a:xfrm>
          <a:prstGeom prst="rect">
            <a:avLst/>
          </a:prstGeom>
          <a:noFill/>
          <a:ln/>
        </p:spPr>
        <p:txBody>
          <a:bodyPr wrap="none" lIns="0" tIns="0" rIns="0" bIns="0" rtlCol="0" anchor="t"/>
          <a:lstStyle/>
          <a:p>
            <a:pPr algn="l" indent="0" marL="0">
              <a:lnSpc>
                <a:spcPts val="2300"/>
              </a:lnSpc>
              <a:buNone/>
            </a:pPr>
            <a:r>
              <a:rPr lang="en-US" sz="1450" dirty="0">
                <a:solidFill>
                  <a:srgbClr val="E0D6DE"/>
                </a:solidFill>
                <a:latin typeface="Inter" pitchFamily="34" charset="0"/>
                <a:ea typeface="Inter" pitchFamily="34" charset="-122"/>
                <a:cs typeface="Inter" pitchFamily="34" charset="-120"/>
              </a:rPr>
              <a:t>Plan for robust monitoring in deployed systems.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14630400" cy="2693551"/>
          </a:xfrm>
          <a:prstGeom prst="rect">
            <a:avLst/>
          </a:prstGeom>
        </p:spPr>
      </p:pic>
      <p:sp>
        <p:nvSpPr>
          <p:cNvPr id="3" name="Text 0"/>
          <p:cNvSpPr/>
          <p:nvPr/>
        </p:nvSpPr>
        <p:spPr>
          <a:xfrm>
            <a:off x="793790" y="3429000"/>
            <a:ext cx="6385084" cy="706993"/>
          </a:xfrm>
          <a:prstGeom prst="rect">
            <a:avLst/>
          </a:prstGeom>
          <a:noFill/>
          <a:ln/>
        </p:spPr>
        <p:txBody>
          <a:bodyPr wrap="none" lIns="0" tIns="0" rIns="0" bIns="0" rtlCol="0" anchor="t"/>
          <a:lstStyle/>
          <a:p>
            <a:pPr algn="l" indent="0" marL="0">
              <a:lnSpc>
                <a:spcPts val="5550"/>
              </a:lnSpc>
              <a:buNone/>
            </a:pPr>
            <a:r>
              <a:rPr lang="en-US" sz="4450" b="1" dirty="0">
                <a:solidFill>
                  <a:srgbClr val="FF8AAF"/>
                </a:solidFill>
                <a:latin typeface="Petrona Bold" pitchFamily="34" charset="0"/>
                <a:ea typeface="Petrona Bold" pitchFamily="34" charset="-122"/>
                <a:cs typeface="Petrona Bold" pitchFamily="34" charset="-120"/>
              </a:rPr>
              <a:t>Conclusion &amp; Next Steps</a:t>
            </a:r>
            <a:endParaRPr lang="en-US" sz="4450" dirty="0"/>
          </a:p>
        </p:txBody>
      </p:sp>
      <p:sp>
        <p:nvSpPr>
          <p:cNvPr id="4" name="Text 1"/>
          <p:cNvSpPr/>
          <p:nvPr/>
        </p:nvSpPr>
        <p:spPr>
          <a:xfrm>
            <a:off x="1116925" y="4701540"/>
            <a:ext cx="12719685" cy="689610"/>
          </a:xfrm>
          <a:prstGeom prst="rect">
            <a:avLst/>
          </a:prstGeom>
          <a:noFill/>
          <a:ln/>
        </p:spPr>
        <p:txBody>
          <a:bodyPr wrap="square" lIns="0" tIns="0" rIns="0" bIns="0" rtlCol="0" anchor="t"/>
          <a:lstStyle/>
          <a:p>
            <a:pPr algn="l" indent="0" marL="0">
              <a:lnSpc>
                <a:spcPts val="2700"/>
              </a:lnSpc>
              <a:buNone/>
            </a:pPr>
            <a:r>
              <a:rPr lang="en-US" sz="1650" dirty="0">
                <a:solidFill>
                  <a:srgbClr val="E0D6DE"/>
                </a:solidFill>
                <a:latin typeface="Inter" pitchFamily="34" charset="0"/>
                <a:ea typeface="Inter" pitchFamily="34" charset="-122"/>
                <a:cs typeface="Inter" pitchFamily="34" charset="-120"/>
              </a:rPr>
              <a:t>The developed CNN achieved strong results on the GTSRB dataset, laying a foundation for future traffic sign recognition research and real-world applications.</a:t>
            </a:r>
            <a:endParaRPr lang="en-US" sz="1650" dirty="0"/>
          </a:p>
        </p:txBody>
      </p:sp>
      <p:sp>
        <p:nvSpPr>
          <p:cNvPr id="5" name="Shape 2"/>
          <p:cNvSpPr/>
          <p:nvPr/>
        </p:nvSpPr>
        <p:spPr>
          <a:xfrm>
            <a:off x="793790" y="4459129"/>
            <a:ext cx="30480" cy="1174433"/>
          </a:xfrm>
          <a:prstGeom prst="rect">
            <a:avLst/>
          </a:prstGeom>
          <a:solidFill>
            <a:srgbClr val="876CD4"/>
          </a:solidFill>
          <a:ln/>
        </p:spPr>
      </p:sp>
      <p:sp>
        <p:nvSpPr>
          <p:cNvPr id="6" name="Shape 3"/>
          <p:cNvSpPr/>
          <p:nvPr/>
        </p:nvSpPr>
        <p:spPr>
          <a:xfrm>
            <a:off x="793790" y="5875973"/>
            <a:ext cx="13042821" cy="1618178"/>
          </a:xfrm>
          <a:prstGeom prst="roundRect">
            <a:avLst>
              <a:gd name="adj" fmla="val 5593"/>
            </a:avLst>
          </a:prstGeom>
          <a:solidFill>
            <a:srgbClr val="2F1D63"/>
          </a:solidFill>
          <a:ln w="7620">
            <a:solidFill>
              <a:srgbClr val="48367C"/>
            </a:solidFill>
            <a:prstDash val="solid"/>
          </a:ln>
        </p:spPr>
      </p:sp>
      <p:sp>
        <p:nvSpPr>
          <p:cNvPr id="7" name="Shape 4"/>
          <p:cNvSpPr/>
          <p:nvPr/>
        </p:nvSpPr>
        <p:spPr>
          <a:xfrm>
            <a:off x="801410" y="5883593"/>
            <a:ext cx="4342448" cy="1602938"/>
          </a:xfrm>
          <a:prstGeom prst="roundRect">
            <a:avLst>
              <a:gd name="adj" fmla="val 5646"/>
            </a:avLst>
          </a:prstGeom>
          <a:solidFill>
            <a:srgbClr val="2F1D63"/>
          </a:solidFill>
          <a:ln/>
        </p:spPr>
      </p:sp>
      <p:sp>
        <p:nvSpPr>
          <p:cNvPr id="8" name="Text 5"/>
          <p:cNvSpPr/>
          <p:nvPr/>
        </p:nvSpPr>
        <p:spPr>
          <a:xfrm>
            <a:off x="1016794" y="6098977"/>
            <a:ext cx="2828211" cy="353378"/>
          </a:xfrm>
          <a:prstGeom prst="rect">
            <a:avLst/>
          </a:prstGeom>
          <a:noFill/>
          <a:ln/>
        </p:spPr>
        <p:txBody>
          <a:bodyPr wrap="none" lIns="0" tIns="0" rIns="0" bIns="0" rtlCol="0" anchor="t"/>
          <a:lstStyle/>
          <a:p>
            <a:pPr algn="l" indent="0" marL="0">
              <a:lnSpc>
                <a:spcPts val="2750"/>
              </a:lnSpc>
              <a:buNone/>
            </a:pPr>
            <a:r>
              <a:rPr lang="en-US" sz="2200" b="1" dirty="0">
                <a:solidFill>
                  <a:srgbClr val="E0D6DE"/>
                </a:solidFill>
                <a:latin typeface="Petrona Bold" pitchFamily="34" charset="0"/>
                <a:ea typeface="Petrona Bold" pitchFamily="34" charset="-122"/>
                <a:cs typeface="Petrona Bold" pitchFamily="34" charset="-120"/>
              </a:rPr>
              <a:t>Address Discrepancy</a:t>
            </a:r>
            <a:endParaRPr lang="en-US" sz="2200" dirty="0"/>
          </a:p>
        </p:txBody>
      </p:sp>
      <p:sp>
        <p:nvSpPr>
          <p:cNvPr id="9" name="Text 6"/>
          <p:cNvSpPr/>
          <p:nvPr/>
        </p:nvSpPr>
        <p:spPr>
          <a:xfrm>
            <a:off x="1016794" y="6581537"/>
            <a:ext cx="3911679" cy="689610"/>
          </a:xfrm>
          <a:prstGeom prst="rect">
            <a:avLst/>
          </a:prstGeom>
          <a:noFill/>
          <a:ln/>
        </p:spPr>
        <p:txBody>
          <a:bodyPr wrap="square" lIns="0" tIns="0" rIns="0" bIns="0" rtlCol="0" anchor="t"/>
          <a:lstStyle/>
          <a:p>
            <a:pPr algn="l" indent="0" marL="0">
              <a:lnSpc>
                <a:spcPts val="2700"/>
              </a:lnSpc>
              <a:buNone/>
            </a:pPr>
            <a:r>
              <a:rPr lang="en-US" sz="1650" dirty="0">
                <a:solidFill>
                  <a:srgbClr val="E0D6DE"/>
                </a:solidFill>
                <a:latin typeface="Inter" pitchFamily="34" charset="0"/>
                <a:ea typeface="Inter" pitchFamily="34" charset="-122"/>
                <a:cs typeface="Inter" pitchFamily="34" charset="-120"/>
              </a:rPr>
              <a:t>Investigate test/validation accuracy discrepancy.</a:t>
            </a:r>
            <a:endParaRPr lang="en-US" sz="1650" dirty="0"/>
          </a:p>
        </p:txBody>
      </p:sp>
      <p:sp>
        <p:nvSpPr>
          <p:cNvPr id="10" name="Shape 7"/>
          <p:cNvSpPr/>
          <p:nvPr/>
        </p:nvSpPr>
        <p:spPr>
          <a:xfrm>
            <a:off x="5143857" y="5883593"/>
            <a:ext cx="4342567" cy="1602938"/>
          </a:xfrm>
          <a:prstGeom prst="rect">
            <a:avLst/>
          </a:prstGeom>
          <a:solidFill>
            <a:srgbClr val="2F1D63"/>
          </a:solidFill>
          <a:ln/>
        </p:spPr>
      </p:sp>
      <p:sp>
        <p:nvSpPr>
          <p:cNvPr id="11" name="Shape 8"/>
          <p:cNvSpPr/>
          <p:nvPr/>
        </p:nvSpPr>
        <p:spPr>
          <a:xfrm>
            <a:off x="5143857" y="5883593"/>
            <a:ext cx="30480" cy="1602938"/>
          </a:xfrm>
          <a:prstGeom prst="roundRect">
            <a:avLst>
              <a:gd name="adj" fmla="val 296930"/>
            </a:avLst>
          </a:prstGeom>
          <a:solidFill>
            <a:srgbClr val="48367C"/>
          </a:solidFill>
          <a:ln/>
        </p:spPr>
      </p:sp>
      <p:sp>
        <p:nvSpPr>
          <p:cNvPr id="12" name="Text 9"/>
          <p:cNvSpPr/>
          <p:nvPr/>
        </p:nvSpPr>
        <p:spPr>
          <a:xfrm>
            <a:off x="5359241" y="6098977"/>
            <a:ext cx="3132296" cy="353378"/>
          </a:xfrm>
          <a:prstGeom prst="rect">
            <a:avLst/>
          </a:prstGeom>
          <a:noFill/>
          <a:ln/>
        </p:spPr>
        <p:txBody>
          <a:bodyPr wrap="none" lIns="0" tIns="0" rIns="0" bIns="0" rtlCol="0" anchor="t"/>
          <a:lstStyle/>
          <a:p>
            <a:pPr algn="l" indent="0" marL="0">
              <a:lnSpc>
                <a:spcPts val="2750"/>
              </a:lnSpc>
              <a:buNone/>
            </a:pPr>
            <a:r>
              <a:rPr lang="en-US" sz="2200" b="1" dirty="0">
                <a:solidFill>
                  <a:srgbClr val="E0D6DE"/>
                </a:solidFill>
                <a:latin typeface="Petrona Bold" pitchFamily="34" charset="0"/>
                <a:ea typeface="Petrona Bold" pitchFamily="34" charset="-122"/>
                <a:cs typeface="Petrona Bold" pitchFamily="34" charset="-120"/>
              </a:rPr>
              <a:t>Real-Time Optimization</a:t>
            </a:r>
            <a:endParaRPr lang="en-US" sz="2200" dirty="0"/>
          </a:p>
        </p:txBody>
      </p:sp>
      <p:sp>
        <p:nvSpPr>
          <p:cNvPr id="13" name="Text 10"/>
          <p:cNvSpPr/>
          <p:nvPr/>
        </p:nvSpPr>
        <p:spPr>
          <a:xfrm>
            <a:off x="5359241" y="6581537"/>
            <a:ext cx="3911798" cy="689610"/>
          </a:xfrm>
          <a:prstGeom prst="rect">
            <a:avLst/>
          </a:prstGeom>
          <a:noFill/>
          <a:ln/>
        </p:spPr>
        <p:txBody>
          <a:bodyPr wrap="square" lIns="0" tIns="0" rIns="0" bIns="0" rtlCol="0" anchor="t"/>
          <a:lstStyle/>
          <a:p>
            <a:pPr algn="l" indent="0" marL="0">
              <a:lnSpc>
                <a:spcPts val="2700"/>
              </a:lnSpc>
              <a:buNone/>
            </a:pPr>
            <a:r>
              <a:rPr lang="en-US" sz="1650" dirty="0">
                <a:solidFill>
                  <a:srgbClr val="E0D6DE"/>
                </a:solidFill>
                <a:latin typeface="Inter" pitchFamily="34" charset="0"/>
                <a:ea typeface="Inter" pitchFamily="34" charset="-122"/>
                <a:cs typeface="Inter" pitchFamily="34" charset="-120"/>
              </a:rPr>
              <a:t>Focus on real-time performance and robustness.</a:t>
            </a:r>
            <a:endParaRPr lang="en-US" sz="1650" dirty="0"/>
          </a:p>
        </p:txBody>
      </p:sp>
      <p:sp>
        <p:nvSpPr>
          <p:cNvPr id="14" name="Shape 11"/>
          <p:cNvSpPr/>
          <p:nvPr/>
        </p:nvSpPr>
        <p:spPr>
          <a:xfrm>
            <a:off x="9486424" y="5883593"/>
            <a:ext cx="4342567" cy="1602938"/>
          </a:xfrm>
          <a:prstGeom prst="rect">
            <a:avLst/>
          </a:prstGeom>
          <a:solidFill>
            <a:srgbClr val="2F1D63"/>
          </a:solidFill>
          <a:ln/>
        </p:spPr>
      </p:sp>
      <p:sp>
        <p:nvSpPr>
          <p:cNvPr id="15" name="Shape 12"/>
          <p:cNvSpPr/>
          <p:nvPr/>
        </p:nvSpPr>
        <p:spPr>
          <a:xfrm>
            <a:off x="9486424" y="5883593"/>
            <a:ext cx="30480" cy="1602938"/>
          </a:xfrm>
          <a:prstGeom prst="roundRect">
            <a:avLst>
              <a:gd name="adj" fmla="val 296930"/>
            </a:avLst>
          </a:prstGeom>
          <a:solidFill>
            <a:srgbClr val="48367C"/>
          </a:solidFill>
          <a:ln/>
        </p:spPr>
      </p:sp>
      <p:sp>
        <p:nvSpPr>
          <p:cNvPr id="16" name="Text 13"/>
          <p:cNvSpPr/>
          <p:nvPr/>
        </p:nvSpPr>
        <p:spPr>
          <a:xfrm>
            <a:off x="9701808" y="6098977"/>
            <a:ext cx="2828211" cy="353378"/>
          </a:xfrm>
          <a:prstGeom prst="rect">
            <a:avLst/>
          </a:prstGeom>
          <a:noFill/>
          <a:ln/>
        </p:spPr>
        <p:txBody>
          <a:bodyPr wrap="none" lIns="0" tIns="0" rIns="0" bIns="0" rtlCol="0" anchor="t"/>
          <a:lstStyle/>
          <a:p>
            <a:pPr algn="l" indent="0" marL="0">
              <a:lnSpc>
                <a:spcPts val="2750"/>
              </a:lnSpc>
              <a:buNone/>
            </a:pPr>
            <a:r>
              <a:rPr lang="en-US" sz="2200" b="1" dirty="0">
                <a:solidFill>
                  <a:srgbClr val="E0D6DE"/>
                </a:solidFill>
                <a:latin typeface="Petrona Bold" pitchFamily="34" charset="0"/>
                <a:ea typeface="Petrona Bold" pitchFamily="34" charset="-122"/>
                <a:cs typeface="Petrona Bold" pitchFamily="34" charset="-120"/>
              </a:rPr>
              <a:t>Advanced Designs</a:t>
            </a:r>
            <a:endParaRPr lang="en-US" sz="2200" dirty="0"/>
          </a:p>
        </p:txBody>
      </p:sp>
      <p:sp>
        <p:nvSpPr>
          <p:cNvPr id="17" name="Text 14"/>
          <p:cNvSpPr/>
          <p:nvPr/>
        </p:nvSpPr>
        <p:spPr>
          <a:xfrm>
            <a:off x="9701808" y="6581537"/>
            <a:ext cx="3911798" cy="689610"/>
          </a:xfrm>
          <a:prstGeom prst="rect">
            <a:avLst/>
          </a:prstGeom>
          <a:noFill/>
          <a:ln/>
        </p:spPr>
        <p:txBody>
          <a:bodyPr wrap="square" lIns="0" tIns="0" rIns="0" bIns="0" rtlCol="0" anchor="t"/>
          <a:lstStyle/>
          <a:p>
            <a:pPr algn="l" indent="0" marL="0">
              <a:lnSpc>
                <a:spcPts val="2700"/>
              </a:lnSpc>
              <a:buNone/>
            </a:pPr>
            <a:r>
              <a:rPr lang="en-US" sz="1650" dirty="0">
                <a:solidFill>
                  <a:srgbClr val="E0D6DE"/>
                </a:solidFill>
                <a:latin typeface="Inter" pitchFamily="34" charset="0"/>
                <a:ea typeface="Inter" pitchFamily="34" charset="-122"/>
                <a:cs typeface="Inter" pitchFamily="34" charset="-120"/>
              </a:rPr>
              <a:t>Explore new neural network designs for performance gains.</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2025-11-13T08:18:05Z</dcterms:created>
  <dcterms:modified xsi:type="dcterms:W3CDTF">2025-11-13T08:18:05Z</dcterms:modified>
</cp:coreProperties>
</file>